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Selamat datang. Ini sesi live build — bukan teori AI. Kita pakai SDD Analitik Kopilot sebagai bukti: SPEC → agent → aplikasi jalan.
SETUP SEBELUM SHARE SCREEN:
1) Buka folder repo di Cursor/VS Code
2) Terminal 1 sudah running: npm run demo
3) Browser localhost:3000 siap
4) Opsional Terminal 2: biarkan kosong untuk perintah live
VS CODE — jangan jalankan dulu, hanya pastikan terbuka:
- Explorer: specs/requirements/
- Tab siap: specs/regeneration/prompts/regenerate-full-app.md
- Tab siap: AGENTS.md
LINK: https://suherman.net/ · Meet di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Lima blok. Inti di blok 03 — agent jalan sementara kita narasikan ownership &amp; batas. Blok 04 = bukti runnable di browser.
VS CODE SAAT SLIDE INI:
Buka split: kiri specs/README.md | kanan package.json (scripts).
Tidak perlu jalankan perintah dulu.
SIAPKAN DI CLIPBOARD (nanti):
npm run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Baca kutipan pelan. Tekankan: spesifikasi, batas, ownership, tools, verifikasi — lima kata kunci.
VS CODE: Buka AGENTS.md bagian Boundaries. Highlight baris “Never let the LLM execute arbitrary SQL”.
JANGAN: mulai generate kode di slide ini — biarkan pesan mengendap 10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Kiri = chat “buatkan app analytics”. Kanan = kontrak SDD. Prompt itu input sementara; SPEC yang di-commit.
VS CODE — SALIN KE CHAT AGENT (contoh anti-pola, JANGAN dijalankan sebagai build serius):
Buatkan app analytics SaaS lengkap dengan AI yang bisa query database apa saja.
Lalu bandingkan dengan membuka file:
specs/regeneration/prompts/regenerate-full-app.md
Tunjukkan bagian Hard constraints.
TERMINAL (opsional, cepat):
git status
# tunjukkan specs/ sudah di-track sebagai sumber kebenaran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Ini app yang sudah jalan — kita pakai sebagai bukti SDD, dan juga sebagai target regenerasi dari SPEC.
VS CODE — BUKA TAB:
1) semantic/commerce.yaml
2) specs/requirements/SDD-004-analytics-copilot.md
3) public/logo.png (preview)
TERMINAL — jika demo belum jalan, SALIN &amp; ENTER:
cd ~/src/personal/sdd-analytics-copilot
npm run demo
# tunggu Ready — lalu buka http://localhost:3000
OPSIONAL Vertex:
npm run login
# pilih personal-suherman,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Lima langkah ini yang akan kita smoke-test di browser. Spec menuntut semuanya tetap hidup.
SIAPKAN 4 PROMPT DI NOTEPAD/CLIPBOARD (salin satu per satu ke Kopilot UI, BUKAN ke agent coding):
1) Bagaimana pendapatan bulan lalu dibanding bulan sebelumnya?
2) Kenapa Sumatera turun?
3) Tambahkan investigasi ini ke dasbor eksekutif.
4) Ganti wilayah dengan segmen pelanggan.
VS CODE: Buka specs/product/demo-journey.md — tunjukkan prompt yang sama ada di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Kalau src/ dihapus, agent harus bisa bangun ulang dari specs/ + regeneration prompts.
VS CODE — SALIN KE CHAT AGENT (saat blok live build / regenerasi):
Buka @specs/regeneration/prompts/regenerate-full-app.md dan ikuti instruksi di sana. Kerjakan fase A→H. Jangan langgar Hard constraints (no arbitrary SQL, jam demo 2026-09-05, Bahasa Indonesia, multi-tenant x-company-id).
ATAU prompt pendek:
Regenerate this app from specs/regeneration/README.md and SDD-001 through SDD-013. Keep QueryPlan boundary. Prefer data/samples CSV seed.
FILE YANG DITUNJUKKAN:
specs/regeneration/prompts/regenerate-full-app.md
specs/requirements/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Ini “guardrail”. Agent coding yang melanggar = gagal acceptance.
VS CODE — saat agent sedang generate (blok 03), SALIN FOLLOW-UP INI JIKA PERLU:
Stop. Do not write raw SQL in the LLM. Only emit QueryPlan JSON. Compile must inject company_id. Demo clock must stay DEMO_AS_OF=2026-09-05. UI and answers in Bahasa Indonesia.
BUKA UNTUK BUKTI DI KODE:
src/server/analytics/time-range.ts  (cari DEMO_AS_OF)
src/server/analytics/compiler.ts    (company_id)
AGENTS.md Boundaries
TERMINAL (verifikasi cepat):
rg -n "DEMO_AS_OF" src/server/analytics/time-range.ts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Ini permukaan pertama. Kartu alur = SPEC yang bisa diklik.
BROWSER: Pastikan localhost:3000. Klik “Buka Kopilot” atau kartu Tanya.
VS CODE: Tidak perlu prompt coding di sini. Tunjukkan src/components/home/HomeHero.tsx jika ditanya “dari mana copy-nya”.
TERMINAL (jika blank):
npm run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Soft multi-tenancy. Header x-company-id. Ganti tenant = data berbeda.
BROWSER: Buka modal perusahaan → pilih GoCepat, lalu kembali TokoRaya untuk demo Sumatera.
VS CODE — SALIN KE AGENT HANYA JIKA MENJELASKAN TENANCY:
Show how x-company-id scopes analytics SQL. Open src/server/company/service.ts and compiler company_id injection.
FILE: specs/requirements/SDD-009-multi-tenant-companies.md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Prompt ke KOPILOT UI (bukan chat coding). Typewriter + grafik langsung.
SALIN KE KOPILOT (bubble chat di browser):
Bagaimana pendapatan bulan lalu dibanding bulan sebelumnya?
SAAT MENUNGGU JAWABAN — VS CODE:
Buka tab Network opsional, atau src/server/agent/analytics-agent.ts
Jelaskan: Vertex plan JSON → execute QueryPlan → narrate.
JANGAN paste prompt ini ke Cursor Agent (itu akan mengedit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Pola seed disengaja. Jam demo 2026-09-05 → Agustus = Sumatera drop. Bukan APAC.
SALIN KE KOPILOT:
Kenapa Sumatera turun?
VS CODE — TUNJUKKAN SEED:
data/seed.ts (cari augustSumateraDrop)
atau data/samples/tokoraya/
specs/requirements/SDD-002-demo-dataset.md
TERMINAL:
rg -n "augustSumateraDrop|Sumatera" data/seed.ts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Perluas “Rencana Kueri” dan “Bukti”. Ini bukti governance — LLM tidak kirim SQL.
BROWSER: Expand details di bubble. Scroll SQL — tunjukkan company_id = ?
VS CODE:
src/server/analytics/query-plan.ts
src/server/analytics/validate.ts
src/server/analytics/compiler.ts
FOLLOW-UP AGENT (jika audience tanya regenerasi compiler):
Implement QueryPlan validate+compile per specs/domain/query-plan.md and SDD-005. Always inject company_id.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DashboardSpec JSON — bukan React yang digenerate agent.
SALIN KE KOPILOT (berurutan):
Tambahkan investigasi ini ke dasbor eksekutif.
Ganti wilayah dengan segmen pelanggan.
BROWSER: Buka /dashboards setelah masing-masing prompt.
VS CODE:
specs/requirements/SDD-007-dashboard.md
src/server/dashboard/schema.ts
src/components/dashboard/DashboardView.tsx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Jejak = runtime evidence. Model Semantik = vocabulary yang boleh dipakai agent.
BROWSER: /traces (klik run_…) lalu /semantic-model
VS CODE:
semantic/commerce.yaml
specs/domain/semantic-model.md
tests/acceptance/SDD-004.test.ts
TERMINAL — bukti tes:
npm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Scripts = bagian dari kontrak ops (SDD-011/013). Tanpa ini regenerasi tidak lengkap.
TERMINAL — SALIN SATU PER SATU SAAT NARASI:
npm run db:seed
npm run data:export-csv
npm run login
npm test
VS CODE — CHAT AGENT (regenerasi data/ops saja):
Buka @specs/regeneration/prompts/regenerate-data-and-ops.md dan implementasikan semua file di daftar Required files.
VS CODE — CHAT AGENT (copilot+vertex saja):
@specs/regeneration/prompts/regenerate-copilot-vertex.md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Ini urutan smoke walk. Centang mental sambil share browser.
URUTAN SALIN — KOPILOT UI:
1) Bagaimana pendapatan bulan lalu dibanding bulan sebelumnya?
2) Kenapa Sumatera turun?
3) Tambahkan investigasi ini ke dasbor eksekutif.
4) Ganti wilayah dengan segmen pelanggan.
TERMINAL (paralel, jangan ganggu demo kecuali error):
npm test
# atau biarkan npm run demo tetap jalan
JIKA DEMO RUSAK — VS CODE AGENT:
Fix the demo journey per AGENTS.md north star. Keep DEMO_AS_OF and QueryPlan boundary. Run npm test.
MAXIMIZE dock di UI untuk grafik lebih jelas; Esc untuk keluar fullscreen.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KATAKAN: Terima kasih. Q&amp;A. Arahkan ke poll/register di suherman.net.
VS CODE — JANGAN generate kode di closing kecuali ada pertanyaan teknis spesifik.
JIKA ADA YANG MAU COBA SENDIRI — berikan perintah:
git clone https://github.com/iman-suherman/sdd-analytics-copilot
cd sdd-analytics-copilot &amp;&amp; npm install &amp;&amp; npm run demo
PROMPT REGENERASI UNTUK AUDIENCE:
Salin isi specs/regeneration/prompts/regenerate-full-app.md ke Cursor Agent di repo kosong yang sudah berisi folder specs/ + semantic/ + data/samples/.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33"/>
        </a:solidFill>
      </p:bgPr>
    </p:bg>
    <p:spTree>
      <p:nvGrpSpPr>
        <p:cNvPr id="1" name=""/>
        <p:cNvGrpSpPr/>
        <p:nvPr/>
      </p:nvGrpSpPr>
      <p:grpSpPr>
        <a:xfrm>
          <a:off x="0" y="0"/>
          <a:ext cx="0" cy="0"/>
          <a:chOff x="0" y="0"/>
          <a:chExt cx="0" cy="0"/>
        </a:xfrm>
      </p:grpSpPr>
      <p:pic>
        <p:nvPicPr>
          <p:cNvPr id="2" name="Image 0" descr="/Users/iman.suherman/src/personal/sdd-analytics-copilot/public/logo.png">    </p:cNvPr>
          <p:cNvPicPr>
            <a:picLocks noChangeAspect="1"/>
          </p:cNvPicPr>
          <p:nvPr/>
        </p:nvPicPr>
        <p:blipFill>
          <a:blip r:embed="rId1"/>
          <a:stretch>
            <a:fillRect/>
          </a:stretch>
        </p:blipFill>
        <p:spPr>
          <a:xfrm>
            <a:off x="3977640" y="320040"/>
            <a:ext cx="1188720" cy="1188720"/>
          </a:xfrm>
          <a:prstGeom prst="rect">
            <a:avLst/>
          </a:prstGeom>
        </p:spPr>
      </p:pic>
      <p:sp>
        <p:nvSpPr>
          <p:cNvPr id="3" name="Text 0"/>
          <p:cNvSpPr/>
          <p:nvPr/>
        </p:nvSpPr>
        <p:spPr>
          <a:xfrm>
            <a:off x="457200" y="1645920"/>
            <a:ext cx="8229600" cy="502920"/>
          </a:xfrm>
          <a:prstGeom prst="rect">
            <a:avLst/>
          </a:prstGeom>
          <a:noFill/>
          <a:ln/>
        </p:spPr>
        <p:txBody>
          <a:bodyPr wrap="square" rtlCol="0" anchor="ctr"/>
          <a:lstStyle/>
          <a:p>
            <a:pPr algn="ctr" indent="0" marL="0">
              <a:buNone/>
            </a:pPr>
            <a:r>
              <a:rPr lang="en-US" sz="3200" b="1" dirty="0">
                <a:solidFill>
                  <a:srgbClr val="F4EFE6"/>
                </a:solidFill>
                <a:latin typeface="Georgia" pitchFamily="34" charset="0"/>
                <a:ea typeface="Georgia" pitchFamily="34" charset="-122"/>
                <a:cs typeface="Georgia" pitchFamily="34" charset="-120"/>
              </a:rPr>
              <a:t>SDD Analitik Kopilot</a:t>
            </a:r>
            <a:endParaRPr lang="en-US" sz="3200" dirty="0"/>
          </a:p>
        </p:txBody>
      </p:sp>
      <p:sp>
        <p:nvSpPr>
          <p:cNvPr id="4" name="Text 1"/>
          <p:cNvSpPr/>
          <p:nvPr/>
        </p:nvSpPr>
        <p:spPr>
          <a:xfrm>
            <a:off x="731520" y="2194560"/>
            <a:ext cx="7680960" cy="365760"/>
          </a:xfrm>
          <a:prstGeom prst="rect">
            <a:avLst/>
          </a:prstGeom>
          <a:noFill/>
          <a:ln/>
        </p:spPr>
        <p:txBody>
          <a:bodyPr wrap="square" rtlCol="0" anchor="ctr"/>
          <a:lstStyle/>
          <a:p>
            <a:pPr algn="ctr" indent="0" marL="0">
              <a:buNone/>
            </a:pPr>
            <a:r>
              <a:rPr lang="en-US" sz="1600" dirty="0">
                <a:solidFill>
                  <a:srgbClr val="A8C0DE"/>
                </a:solidFill>
                <a:latin typeface="Calibri" pitchFamily="34" charset="0"/>
                <a:ea typeface="Calibri" pitchFamily="34" charset="-122"/>
                <a:cs typeface="Calibri" pitchFamily="34" charset="-120"/>
              </a:rPr>
              <a:t>Demo Spec-Driven Development — dari SPEC sampai aplikasi berjalan</a:t>
            </a:r>
            <a:endParaRPr lang="en-US" sz="1600" dirty="0"/>
          </a:p>
        </p:txBody>
      </p:sp>
      <p:sp>
        <p:nvSpPr>
          <p:cNvPr id="5" name="Text 2"/>
          <p:cNvSpPr/>
          <p:nvPr/>
        </p:nvSpPr>
        <p:spPr>
          <a:xfrm>
            <a:off x="914400" y="2743200"/>
            <a:ext cx="7315200" cy="914400"/>
          </a:xfrm>
          <a:prstGeom prst="rect">
            <a:avLst/>
          </a:prstGeom>
          <a:noFill/>
          <a:ln/>
        </p:spPr>
        <p:txBody>
          <a:bodyPr wrap="square" rtlCol="0" anchor="ctr"/>
          <a:lstStyle/>
          <a:p>
            <a:pPr algn="ctr" indent="0" marL="0">
              <a:buNone/>
            </a:pPr>
            <a:r>
              <a:rPr lang="en-US" sz="1300" dirty="0">
                <a:solidFill>
                  <a:srgbClr val="F4EFE6"/>
                </a:solidFill>
                <a:latin typeface="Calibri" pitchFamily="34" charset="0"/>
                <a:ea typeface="Calibri" pitchFamily="34" charset="-122"/>
                <a:cs typeface="Calibri" pitchFamily="34" charset="-120"/>
              </a:rPr>
              <a:t>Sejalan dengan sesi suherman.net:</a:t>
            </a:r>
            <a:endParaRPr lang="en-US" sz="1300" dirty="0"/>
          </a:p>
          <a:p>
            <a:pPr algn="ctr" indent="0" marL="0">
              <a:buNone/>
            </a:pPr>
            <a:r>
              <a:rPr lang="en-US" sz="1300" dirty="0">
                <a:solidFill>
                  <a:srgbClr val="F4EFE6"/>
                </a:solidFill>
                <a:latin typeface="Calibri" pitchFamily="34" charset="0"/>
                <a:ea typeface="Calibri" pitchFamily="34" charset="-122"/>
                <a:cs typeface="Calibri" pitchFamily="34" charset="-120"/>
              </a:rPr>
              <a:t>“Build an App with AI, Live: From Idea to Running Application”</a:t>
            </a:r>
            <a:endParaRPr lang="en-US" sz="1300" dirty="0"/>
          </a:p>
          <a:p>
            <a:pPr algn="ctr" indent="0" marL="0">
              <a:buNone/>
            </a:pPr>
            <a:r>
              <a:rPr lang="en-US" sz="1300" dirty="0">
                <a:solidFill>
                  <a:srgbClr val="F4EFE6"/>
                </a:solidFill>
                <a:latin typeface="Calibri" pitchFamily="34" charset="0"/>
                <a:ea typeface="Calibri" pitchFamily="34" charset="-122"/>
                <a:cs typeface="Calibri" pitchFamily="34" charset="-120"/>
              </a:rPr>
              <a:t>Sabtu, 5 September 2026 · 11:00–12:00 WIB</a:t>
            </a:r>
            <a:endParaRPr lang="en-US" sz="1300" dirty="0"/>
          </a:p>
        </p:txBody>
      </p:sp>
      <p:sp>
        <p:nvSpPr>
          <p:cNvPr id="6" name="Text 3"/>
          <p:cNvSpPr/>
          <p:nvPr/>
        </p:nvSpPr>
        <p:spPr>
          <a:xfrm>
            <a:off x="457200" y="4297680"/>
            <a:ext cx="8229600" cy="274320"/>
          </a:xfrm>
          <a:prstGeom prst="rect">
            <a:avLst/>
          </a:prstGeom>
          <a:noFill/>
          <a:ln/>
        </p:spPr>
        <p:txBody>
          <a:bodyPr wrap="square" rtlCol="0" anchor="ctr"/>
          <a:lstStyle/>
          <a:p>
            <a:pPr algn="ctr" indent="0" marL="0">
              <a:buNone/>
            </a:pPr>
            <a:r>
              <a:rPr lang="en-US" sz="1200" dirty="0">
                <a:solidFill>
                  <a:srgbClr val="7A93B0"/>
                </a:solidFill>
                <a:latin typeface="Calibri" pitchFamily="34" charset="0"/>
                <a:ea typeface="Calibri" pitchFamily="34" charset="-122"/>
                <a:cs typeface="Calibri" pitchFamily="34" charset="-120"/>
              </a:rPr>
              <a:t>Iman Suherman  ·  suherman.net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Agenda sesi (suherman.net)</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Bangun aplikasi dengan AI secara live — bukan webinar teori</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Shape 3"/>
          <p:cNvSpPr/>
          <p:nvPr/>
        </p:nvSpPr>
        <p:spPr>
          <a:xfrm>
            <a:off x="365760" y="1051560"/>
            <a:ext cx="8412480" cy="585216"/>
          </a:xfrm>
          <a:prstGeom prst="roundRect">
            <a:avLst>
              <a:gd name="adj" fmla="val 9375"/>
            </a:avLst>
          </a:prstGeom>
          <a:solidFill>
            <a:srgbClr val="FFFFFF"/>
          </a:solidFill>
          <a:ln w="6350">
            <a:solidFill>
              <a:srgbClr val="D4CBBC"/>
            </a:solidFill>
            <a:prstDash val="solid"/>
          </a:ln>
        </p:spPr>
      </p:sp>
      <p:sp>
        <p:nvSpPr>
          <p:cNvPr id="8" name="Text 4"/>
          <p:cNvSpPr/>
          <p:nvPr/>
        </p:nvSpPr>
        <p:spPr>
          <a:xfrm>
            <a:off x="502920" y="1124712"/>
            <a:ext cx="1463040" cy="438912"/>
          </a:xfrm>
          <a:prstGeom prst="rect">
            <a:avLst/>
          </a:prstGeom>
          <a:noFill/>
          <a:ln/>
        </p:spPr>
        <p:txBody>
          <a:bodyPr wrap="square" rtlCol="0" anchor="ctr"/>
          <a:lstStyle/>
          <a:p>
            <a:pPr indent="0" marL="0">
              <a:buNone/>
            </a:pPr>
            <a:r>
              <a:rPr lang="en-US" sz="1200" b="1" dirty="0">
                <a:solidFill>
                  <a:srgbClr val="1E4D8C"/>
                </a:solidFill>
                <a:latin typeface="Calibri" pitchFamily="34" charset="0"/>
                <a:ea typeface="Calibri" pitchFamily="34" charset="-122"/>
                <a:cs typeface="Calibri" pitchFamily="34" charset="-120"/>
              </a:rPr>
              <a:t>01 · 10 mnt</a:t>
            </a:r>
            <a:endParaRPr lang="en-US" sz="1200" dirty="0"/>
          </a:p>
        </p:txBody>
      </p:sp>
      <p:sp>
        <p:nvSpPr>
          <p:cNvPr id="9" name="Text 5"/>
          <p:cNvSpPr/>
          <p:nvPr/>
        </p:nvSpPr>
        <p:spPr>
          <a:xfrm>
            <a:off x="2011680" y="1097280"/>
            <a:ext cx="2926080" cy="228600"/>
          </a:xfrm>
          <a:prstGeom prst="rect">
            <a:avLst/>
          </a:prstGeom>
          <a:noFill/>
          <a:ln/>
        </p:spPr>
        <p:txBody>
          <a:bodyPr wrap="square" rtlCol="0" anchor="ctr"/>
          <a:lstStyle/>
          <a:p>
            <a:pPr indent="0" marL="0">
              <a:buNone/>
            </a:pPr>
            <a:r>
              <a:rPr lang="en-US" sz="1400" b="1" dirty="0">
                <a:solidFill>
                  <a:srgbClr val="132033"/>
                </a:solidFill>
                <a:latin typeface="Calibri" pitchFamily="34" charset="0"/>
                <a:ea typeface="Calibri" pitchFamily="34" charset="-122"/>
                <a:cs typeface="Calibri" pitchFamily="34" charset="-120"/>
              </a:rPr>
              <a:t>Konteks &amp; konsep</a:t>
            </a:r>
            <a:endParaRPr lang="en-US" sz="1400" dirty="0"/>
          </a:p>
        </p:txBody>
      </p:sp>
      <p:sp>
        <p:nvSpPr>
          <p:cNvPr id="10" name="Text 6"/>
          <p:cNvSpPr/>
          <p:nvPr/>
        </p:nvSpPr>
        <p:spPr>
          <a:xfrm>
            <a:off x="2011680" y="1325880"/>
            <a:ext cx="6492240" cy="256032"/>
          </a:xfrm>
          <a:prstGeom prst="rect">
            <a:avLst/>
          </a:prstGeom>
          <a:noFill/>
          <a:ln/>
        </p:spPr>
        <p:txBody>
          <a:bodyPr wrap="square" rtlCol="0" anchor="ctr"/>
          <a:lstStyle/>
          <a:p>
            <a:pPr indent="0" marL="0">
              <a:buNone/>
            </a:pPr>
            <a:r>
              <a:rPr lang="en-US" sz="1200" dirty="0">
                <a:solidFill>
                  <a:srgbClr val="5B6B7C"/>
                </a:solidFill>
                <a:latin typeface="Calibri" pitchFamily="34" charset="0"/>
                <a:ea typeface="Calibri" pitchFamily="34" charset="-122"/>
                <a:cs typeface="Calibri" pitchFamily="34" charset="-120"/>
              </a:rPr>
              <a:t>Masalah → riset → kenapa tidak langsung “buatkan app”.</a:t>
            </a:r>
            <a:endParaRPr lang="en-US" sz="1200" dirty="0"/>
          </a:p>
        </p:txBody>
      </p:sp>
      <p:sp>
        <p:nvSpPr>
          <p:cNvPr id="11" name="Shape 7"/>
          <p:cNvSpPr/>
          <p:nvPr/>
        </p:nvSpPr>
        <p:spPr>
          <a:xfrm>
            <a:off x="365760" y="1709928"/>
            <a:ext cx="8412480" cy="585216"/>
          </a:xfrm>
          <a:prstGeom prst="roundRect">
            <a:avLst>
              <a:gd name="adj" fmla="val 9375"/>
            </a:avLst>
          </a:prstGeom>
          <a:solidFill>
            <a:srgbClr val="EBE3D6"/>
          </a:solidFill>
          <a:ln w="6350">
            <a:solidFill>
              <a:srgbClr val="D4CBBC"/>
            </a:solidFill>
            <a:prstDash val="solid"/>
          </a:ln>
        </p:spPr>
      </p:sp>
      <p:sp>
        <p:nvSpPr>
          <p:cNvPr id="12" name="Text 8"/>
          <p:cNvSpPr/>
          <p:nvPr/>
        </p:nvSpPr>
        <p:spPr>
          <a:xfrm>
            <a:off x="502920" y="1783080"/>
            <a:ext cx="1463040" cy="438912"/>
          </a:xfrm>
          <a:prstGeom prst="rect">
            <a:avLst/>
          </a:prstGeom>
          <a:noFill/>
          <a:ln/>
        </p:spPr>
        <p:txBody>
          <a:bodyPr wrap="square" rtlCol="0" anchor="ctr"/>
          <a:lstStyle/>
          <a:p>
            <a:pPr indent="0" marL="0">
              <a:buNone/>
            </a:pPr>
            <a:r>
              <a:rPr lang="en-US" sz="1200" b="1" dirty="0">
                <a:solidFill>
                  <a:srgbClr val="1E4D8C"/>
                </a:solidFill>
                <a:latin typeface="Calibri" pitchFamily="34" charset="0"/>
                <a:ea typeface="Calibri" pitchFamily="34" charset="-122"/>
                <a:cs typeface="Calibri" pitchFamily="34" charset="-120"/>
              </a:rPr>
              <a:t>02 · 5 mnt</a:t>
            </a:r>
            <a:endParaRPr lang="en-US" sz="1200" dirty="0"/>
          </a:p>
        </p:txBody>
      </p:sp>
      <p:sp>
        <p:nvSpPr>
          <p:cNvPr id="13" name="Text 9"/>
          <p:cNvSpPr/>
          <p:nvPr/>
        </p:nvSpPr>
        <p:spPr>
          <a:xfrm>
            <a:off x="2011680" y="1755648"/>
            <a:ext cx="2926080" cy="228600"/>
          </a:xfrm>
          <a:prstGeom prst="rect">
            <a:avLst/>
          </a:prstGeom>
          <a:noFill/>
          <a:ln/>
        </p:spPr>
        <p:txBody>
          <a:bodyPr wrap="square" rtlCol="0" anchor="ctr"/>
          <a:lstStyle/>
          <a:p>
            <a:pPr indent="0" marL="0">
              <a:buNone/>
            </a:pPr>
            <a:r>
              <a:rPr lang="en-US" sz="1400" b="1" dirty="0">
                <a:solidFill>
                  <a:srgbClr val="132033"/>
                </a:solidFill>
                <a:latin typeface="Calibri" pitchFamily="34" charset="0"/>
                <a:ea typeface="Calibri" pitchFamily="34" charset="-122"/>
                <a:cs typeface="Calibri" pitchFamily="34" charset="-120"/>
              </a:rPr>
              <a:t>Ubah ide jadi SPEC</a:t>
            </a:r>
            <a:endParaRPr lang="en-US" sz="1400" dirty="0"/>
          </a:p>
        </p:txBody>
      </p:sp>
      <p:sp>
        <p:nvSpPr>
          <p:cNvPr id="14" name="Text 10"/>
          <p:cNvSpPr/>
          <p:nvPr/>
        </p:nvSpPr>
        <p:spPr>
          <a:xfrm>
            <a:off x="2011680" y="1984248"/>
            <a:ext cx="6492240" cy="256032"/>
          </a:xfrm>
          <a:prstGeom prst="rect">
            <a:avLst/>
          </a:prstGeom>
          <a:noFill/>
          <a:ln/>
        </p:spPr>
        <p:txBody>
          <a:bodyPr wrap="square" rtlCol="0" anchor="ctr"/>
          <a:lstStyle/>
          <a:p>
            <a:pPr indent="0" marL="0">
              <a:buNone/>
            </a:pPr>
            <a:r>
              <a:rPr lang="en-US" sz="1200" dirty="0">
                <a:solidFill>
                  <a:srgbClr val="5B6B7C"/>
                </a:solidFill>
                <a:latin typeface="Calibri" pitchFamily="34" charset="0"/>
                <a:ea typeface="Calibri" pitchFamily="34" charset="-122"/>
                <a:cs typeface="Calibri" pitchFamily="34" charset="-120"/>
              </a:rPr>
              <a:t>SPEC = kontrak: rute, perilaku, copy, hard rules, acceptance.</a:t>
            </a:r>
            <a:endParaRPr lang="en-US" sz="1200" dirty="0"/>
          </a:p>
        </p:txBody>
      </p:sp>
      <p:sp>
        <p:nvSpPr>
          <p:cNvPr id="15" name="Shape 11"/>
          <p:cNvSpPr/>
          <p:nvPr/>
        </p:nvSpPr>
        <p:spPr>
          <a:xfrm>
            <a:off x="365760" y="2368296"/>
            <a:ext cx="8412480" cy="585216"/>
          </a:xfrm>
          <a:prstGeom prst="roundRect">
            <a:avLst>
              <a:gd name="adj" fmla="val 9375"/>
            </a:avLst>
          </a:prstGeom>
          <a:solidFill>
            <a:srgbClr val="FFFFFF"/>
          </a:solidFill>
          <a:ln w="6350">
            <a:solidFill>
              <a:srgbClr val="D4CBBC"/>
            </a:solidFill>
            <a:prstDash val="solid"/>
          </a:ln>
        </p:spPr>
      </p:sp>
      <p:sp>
        <p:nvSpPr>
          <p:cNvPr id="16" name="Text 12"/>
          <p:cNvSpPr/>
          <p:nvPr/>
        </p:nvSpPr>
        <p:spPr>
          <a:xfrm>
            <a:off x="502920" y="2441448"/>
            <a:ext cx="1463040" cy="438912"/>
          </a:xfrm>
          <a:prstGeom prst="rect">
            <a:avLst/>
          </a:prstGeom>
          <a:noFill/>
          <a:ln/>
        </p:spPr>
        <p:txBody>
          <a:bodyPr wrap="square" rtlCol="0" anchor="ctr"/>
          <a:lstStyle/>
          <a:p>
            <a:pPr indent="0" marL="0">
              <a:buNone/>
            </a:pPr>
            <a:r>
              <a:rPr lang="en-US" sz="1200" b="1" dirty="0">
                <a:solidFill>
                  <a:srgbClr val="1E4D8C"/>
                </a:solidFill>
                <a:latin typeface="Calibri" pitchFamily="34" charset="0"/>
                <a:ea typeface="Calibri" pitchFamily="34" charset="-122"/>
                <a:cs typeface="Calibri" pitchFamily="34" charset="-120"/>
              </a:rPr>
              <a:t>03 · 25–35 mnt</a:t>
            </a:r>
            <a:endParaRPr lang="en-US" sz="1200" dirty="0"/>
          </a:p>
        </p:txBody>
      </p:sp>
      <p:sp>
        <p:nvSpPr>
          <p:cNvPr id="17" name="Text 13"/>
          <p:cNvSpPr/>
          <p:nvPr/>
        </p:nvSpPr>
        <p:spPr>
          <a:xfrm>
            <a:off x="2011680" y="2414016"/>
            <a:ext cx="2926080" cy="228600"/>
          </a:xfrm>
          <a:prstGeom prst="rect">
            <a:avLst/>
          </a:prstGeom>
          <a:noFill/>
          <a:ln/>
        </p:spPr>
        <p:txBody>
          <a:bodyPr wrap="square" rtlCol="0" anchor="ctr"/>
          <a:lstStyle/>
          <a:p>
            <a:pPr indent="0" marL="0">
              <a:buNone/>
            </a:pPr>
            <a:r>
              <a:rPr lang="en-US" sz="1400" b="1" dirty="0">
                <a:solidFill>
                  <a:srgbClr val="132033"/>
                </a:solidFill>
                <a:latin typeface="Calibri" pitchFamily="34" charset="0"/>
                <a:ea typeface="Calibri" pitchFamily="34" charset="-122"/>
                <a:cs typeface="Calibri" pitchFamily="34" charset="-120"/>
              </a:rPr>
              <a:t>Jalankan AI agents + narasi</a:t>
            </a:r>
            <a:endParaRPr lang="en-US" sz="1400" dirty="0"/>
          </a:p>
        </p:txBody>
      </p:sp>
      <p:sp>
        <p:nvSpPr>
          <p:cNvPr id="18" name="Text 14"/>
          <p:cNvSpPr/>
          <p:nvPr/>
        </p:nvSpPr>
        <p:spPr>
          <a:xfrm>
            <a:off x="2011680" y="2642616"/>
            <a:ext cx="6492240" cy="256032"/>
          </a:xfrm>
          <a:prstGeom prst="rect">
            <a:avLst/>
          </a:prstGeom>
          <a:noFill/>
          <a:ln/>
        </p:spPr>
        <p:txBody>
          <a:bodyPr wrap="square" rtlCol="0" anchor="ctr"/>
          <a:lstStyle/>
          <a:p>
            <a:pPr indent="0" marL="0">
              <a:buNone/>
            </a:pPr>
            <a:r>
              <a:rPr lang="en-US" sz="1200" dirty="0">
                <a:solidFill>
                  <a:srgbClr val="5B6B7C"/>
                </a:solidFill>
                <a:latin typeface="Calibri" pitchFamily="34" charset="0"/>
                <a:ea typeface="Calibri" pitchFamily="34" charset="-122"/>
                <a:cs typeface="Calibri" pitchFamily="34" charset="-120"/>
              </a:rPr>
              <a:t>Fondasi → paralel → i18n → typecheck; manusia putuskan batas.</a:t>
            </a:r>
            <a:endParaRPr lang="en-US" sz="1200" dirty="0"/>
          </a:p>
        </p:txBody>
      </p:sp>
      <p:sp>
        <p:nvSpPr>
          <p:cNvPr id="19" name="Shape 15"/>
          <p:cNvSpPr/>
          <p:nvPr/>
        </p:nvSpPr>
        <p:spPr>
          <a:xfrm>
            <a:off x="365760" y="3026664"/>
            <a:ext cx="8412480" cy="585216"/>
          </a:xfrm>
          <a:prstGeom prst="roundRect">
            <a:avLst>
              <a:gd name="adj" fmla="val 9375"/>
            </a:avLst>
          </a:prstGeom>
          <a:solidFill>
            <a:srgbClr val="EBE3D6"/>
          </a:solidFill>
          <a:ln w="6350">
            <a:solidFill>
              <a:srgbClr val="D4CBBC"/>
            </a:solidFill>
            <a:prstDash val="solid"/>
          </a:ln>
        </p:spPr>
      </p:sp>
      <p:sp>
        <p:nvSpPr>
          <p:cNvPr id="20" name="Text 16"/>
          <p:cNvSpPr/>
          <p:nvPr/>
        </p:nvSpPr>
        <p:spPr>
          <a:xfrm>
            <a:off x="502920" y="3099816"/>
            <a:ext cx="1463040" cy="438912"/>
          </a:xfrm>
          <a:prstGeom prst="rect">
            <a:avLst/>
          </a:prstGeom>
          <a:noFill/>
          <a:ln/>
        </p:spPr>
        <p:txBody>
          <a:bodyPr wrap="square" rtlCol="0" anchor="ctr"/>
          <a:lstStyle/>
          <a:p>
            <a:pPr indent="0" marL="0">
              <a:buNone/>
            </a:pPr>
            <a:r>
              <a:rPr lang="en-US" sz="1200" b="1" dirty="0">
                <a:solidFill>
                  <a:srgbClr val="1E4D8C"/>
                </a:solidFill>
                <a:latin typeface="Calibri" pitchFamily="34" charset="0"/>
                <a:ea typeface="Calibri" pitchFamily="34" charset="-122"/>
                <a:cs typeface="Calibri" pitchFamily="34" charset="-120"/>
              </a:rPr>
              <a:t>04 · 10 mnt</a:t>
            </a:r>
            <a:endParaRPr lang="en-US" sz="1200" dirty="0"/>
          </a:p>
        </p:txBody>
      </p:sp>
      <p:sp>
        <p:nvSpPr>
          <p:cNvPr id="21" name="Text 17"/>
          <p:cNvSpPr/>
          <p:nvPr/>
        </p:nvSpPr>
        <p:spPr>
          <a:xfrm>
            <a:off x="2011680" y="3072384"/>
            <a:ext cx="2926080" cy="228600"/>
          </a:xfrm>
          <a:prstGeom prst="rect">
            <a:avLst/>
          </a:prstGeom>
          <a:noFill/>
          <a:ln/>
        </p:spPr>
        <p:txBody>
          <a:bodyPr wrap="square" rtlCol="0" anchor="ctr"/>
          <a:lstStyle/>
          <a:p>
            <a:pPr indent="0" marL="0">
              <a:buNone/>
            </a:pPr>
            <a:r>
              <a:rPr lang="en-US" sz="1400" b="1" dirty="0">
                <a:solidFill>
                  <a:srgbClr val="132033"/>
                </a:solidFill>
                <a:latin typeface="Calibri" pitchFamily="34" charset="0"/>
                <a:ea typeface="Calibri" pitchFamily="34" charset="-122"/>
                <a:cs typeface="Calibri" pitchFamily="34" charset="-120"/>
              </a:rPr>
              <a:t>Demo &amp; bukti</a:t>
            </a:r>
            <a:endParaRPr lang="en-US" sz="1400" dirty="0"/>
          </a:p>
        </p:txBody>
      </p:sp>
      <p:sp>
        <p:nvSpPr>
          <p:cNvPr id="22" name="Text 18"/>
          <p:cNvSpPr/>
          <p:nvPr/>
        </p:nvSpPr>
        <p:spPr>
          <a:xfrm>
            <a:off x="2011680" y="3300984"/>
            <a:ext cx="6492240" cy="256032"/>
          </a:xfrm>
          <a:prstGeom prst="rect">
            <a:avLst/>
          </a:prstGeom>
          <a:noFill/>
          <a:ln/>
        </p:spPr>
        <p:txBody>
          <a:bodyPr wrap="square" rtlCol="0" anchor="ctr"/>
          <a:lstStyle/>
          <a:p>
            <a:pPr indent="0" marL="0">
              <a:buNone/>
            </a:pPr>
            <a:r>
              <a:rPr lang="en-US" sz="1200" dirty="0">
                <a:solidFill>
                  <a:srgbClr val="5B6B7C"/>
                </a:solidFill>
                <a:latin typeface="Calibri" pitchFamily="34" charset="0"/>
                <a:ea typeface="Calibri" pitchFamily="34" charset="-122"/>
                <a:cs typeface="Calibri" pitchFamily="34" charset="-120"/>
              </a:rPr>
              <a:t>URL lokal, test, smoke walk — bukti runnable, bukan sekadar prompt.</a:t>
            </a:r>
            <a:endParaRPr lang="en-US" sz="1200" dirty="0"/>
          </a:p>
        </p:txBody>
      </p:sp>
      <p:sp>
        <p:nvSpPr>
          <p:cNvPr id="23" name="Shape 19"/>
          <p:cNvSpPr/>
          <p:nvPr/>
        </p:nvSpPr>
        <p:spPr>
          <a:xfrm>
            <a:off x="365760" y="3685032"/>
            <a:ext cx="8412480" cy="585216"/>
          </a:xfrm>
          <a:prstGeom prst="roundRect">
            <a:avLst>
              <a:gd name="adj" fmla="val 9375"/>
            </a:avLst>
          </a:prstGeom>
          <a:solidFill>
            <a:srgbClr val="FFFFFF"/>
          </a:solidFill>
          <a:ln w="6350">
            <a:solidFill>
              <a:srgbClr val="D4CBBC"/>
            </a:solidFill>
            <a:prstDash val="solid"/>
          </a:ln>
        </p:spPr>
      </p:sp>
      <p:sp>
        <p:nvSpPr>
          <p:cNvPr id="24" name="Text 20"/>
          <p:cNvSpPr/>
          <p:nvPr/>
        </p:nvSpPr>
        <p:spPr>
          <a:xfrm>
            <a:off x="502920" y="3758184"/>
            <a:ext cx="1463040" cy="438912"/>
          </a:xfrm>
          <a:prstGeom prst="rect">
            <a:avLst/>
          </a:prstGeom>
          <a:noFill/>
          <a:ln/>
        </p:spPr>
        <p:txBody>
          <a:bodyPr wrap="square" rtlCol="0" anchor="ctr"/>
          <a:lstStyle/>
          <a:p>
            <a:pPr indent="0" marL="0">
              <a:buNone/>
            </a:pPr>
            <a:r>
              <a:rPr lang="en-US" sz="1200" b="1" dirty="0">
                <a:solidFill>
                  <a:srgbClr val="1E4D8C"/>
                </a:solidFill>
                <a:latin typeface="Calibri" pitchFamily="34" charset="0"/>
                <a:ea typeface="Calibri" pitchFamily="34" charset="-122"/>
                <a:cs typeface="Calibri" pitchFamily="34" charset="-120"/>
              </a:rPr>
              <a:t>05 · 15 mnt</a:t>
            </a:r>
            <a:endParaRPr lang="en-US" sz="1200" dirty="0"/>
          </a:p>
        </p:txBody>
      </p:sp>
      <p:sp>
        <p:nvSpPr>
          <p:cNvPr id="25" name="Text 21"/>
          <p:cNvSpPr/>
          <p:nvPr/>
        </p:nvSpPr>
        <p:spPr>
          <a:xfrm>
            <a:off x="2011680" y="3730752"/>
            <a:ext cx="2926080" cy="228600"/>
          </a:xfrm>
          <a:prstGeom prst="rect">
            <a:avLst/>
          </a:prstGeom>
          <a:noFill/>
          <a:ln/>
        </p:spPr>
        <p:txBody>
          <a:bodyPr wrap="square" rtlCol="0" anchor="ctr"/>
          <a:lstStyle/>
          <a:p>
            <a:pPr indent="0" marL="0">
              <a:buNone/>
            </a:pPr>
            <a:r>
              <a:rPr lang="en-US" sz="1400" b="1" dirty="0">
                <a:solidFill>
                  <a:srgbClr val="132033"/>
                </a:solidFill>
                <a:latin typeface="Calibri" pitchFamily="34" charset="0"/>
                <a:ea typeface="Calibri" pitchFamily="34" charset="-122"/>
                <a:cs typeface="Calibri" pitchFamily="34" charset="-120"/>
              </a:rPr>
              <a:t>Product factory + Q&amp;A</a:t>
            </a:r>
            <a:endParaRPr lang="en-US" sz="1400" dirty="0"/>
          </a:p>
        </p:txBody>
      </p:sp>
      <p:sp>
        <p:nvSpPr>
          <p:cNvPr id="26" name="Text 22"/>
          <p:cNvSpPr/>
          <p:nvPr/>
        </p:nvSpPr>
        <p:spPr>
          <a:xfrm>
            <a:off x="2011680" y="3959352"/>
            <a:ext cx="6492240" cy="256032"/>
          </a:xfrm>
          <a:prstGeom prst="rect">
            <a:avLst/>
          </a:prstGeom>
          <a:noFill/>
          <a:ln/>
        </p:spPr>
        <p:txBody>
          <a:bodyPr wrap="square" rtlCol="0" anchor="ctr"/>
          <a:lstStyle/>
          <a:p>
            <a:pPr indent="0" marL="0">
              <a:buNone/>
            </a:pPr>
            <a:r>
              <a:rPr lang="en-US" sz="1200" dirty="0">
                <a:solidFill>
                  <a:srgbClr val="5B6B7C"/>
                </a:solidFill>
                <a:latin typeface="Calibri" pitchFamily="34" charset="0"/>
                <a:ea typeface="Calibri" pitchFamily="34" charset="-122"/>
                <a:cs typeface="Calibri" pitchFamily="34" charset="-120"/>
              </a:rPr>
              <a:t>Yang menskala adalah sistem pengembangan, bukan satu prompt.</a:t>
            </a:r>
            <a:endParaRPr lang="en-US" sz="1200" dirty="0"/>
          </a:p>
        </p:txBody>
      </p:sp>
      <p:sp>
        <p:nvSpPr>
          <p:cNvPr id="27" name="Shape 23"/>
          <p:cNvSpPr/>
          <p:nvPr/>
        </p:nvSpPr>
        <p:spPr>
          <a:xfrm>
            <a:off x="0" y="4800600"/>
            <a:ext cx="9144000" cy="342900"/>
          </a:xfrm>
          <a:prstGeom prst="rect">
            <a:avLst/>
          </a:prstGeom>
          <a:solidFill>
            <a:srgbClr val="132033"/>
          </a:solidFill>
          <a:ln w="12700">
            <a:solidFill>
              <a:srgbClr val="132033"/>
            </a:solidFill>
            <a:prstDash val="solid"/>
          </a:ln>
        </p:spPr>
      </p:sp>
      <p:sp>
        <p:nvSpPr>
          <p:cNvPr id="28" name="Text 24"/>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29" name="Text 25"/>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2 / 18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Pesan inti</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Dari suherman.net</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Shape 3"/>
          <p:cNvSpPr/>
          <p:nvPr/>
        </p:nvSpPr>
        <p:spPr>
          <a:xfrm>
            <a:off x="548640" y="1463040"/>
            <a:ext cx="8046720" cy="2194560"/>
          </a:xfrm>
          <a:prstGeom prst="roundRect">
            <a:avLst>
              <a:gd name="adj" fmla="val 4167"/>
            </a:avLst>
          </a:prstGeom>
          <a:solidFill>
            <a:srgbClr val="FFFFFF"/>
          </a:solidFill>
          <a:ln w="25400">
            <a:solidFill>
              <a:srgbClr val="1E4D8C"/>
            </a:solidFill>
            <a:prstDash val="solid"/>
          </a:ln>
        </p:spPr>
      </p:sp>
      <p:sp>
        <p:nvSpPr>
          <p:cNvPr id="8" name="Text 4"/>
          <p:cNvSpPr/>
          <p:nvPr/>
        </p:nvSpPr>
        <p:spPr>
          <a:xfrm>
            <a:off x="822960" y="1737360"/>
            <a:ext cx="7498080" cy="1645920"/>
          </a:xfrm>
          <a:prstGeom prst="rect">
            <a:avLst/>
          </a:prstGeom>
          <a:noFill/>
          <a:ln/>
        </p:spPr>
        <p:txBody>
          <a:bodyPr wrap="square" rtlCol="0" anchor="ctr"/>
          <a:lstStyle/>
          <a:p>
            <a:pPr algn="ctr" indent="0" marL="0">
              <a:buNone/>
            </a:pPr>
            <a:r>
              <a:rPr lang="en-US" sz="1800" i="1" dirty="0">
                <a:solidFill>
                  <a:srgbClr val="132033"/>
                </a:solidFill>
                <a:latin typeface="Georgia" pitchFamily="34" charset="0"/>
                <a:ea typeface="Georgia" pitchFamily="34" charset="-122"/>
                <a:cs typeface="Georgia" pitchFamily="34" charset="-120"/>
              </a:rPr>
              <a:t>AI tidak menggantikan software engineering.</a:t>
            </a:r>
            <a:endParaRPr lang="en-US" sz="1800" dirty="0"/>
          </a:p>
          <a:p>
            <a:pPr algn="ctr" indent="0" marL="0">
              <a:buNone/>
            </a:pPr>
            <a:r>
              <a:rPr lang="en-US" sz="1800" i="1" dirty="0">
                <a:solidFill>
                  <a:srgbClr val="132033"/>
                </a:solidFill>
                <a:latin typeface="Georgia" pitchFamily="34" charset="0"/>
                <a:ea typeface="Georgia" pitchFamily="34" charset="-122"/>
                <a:cs typeface="Georgia" pitchFamily="34" charset="-120"/>
              </a:rPr>
              <a:t>AI membuat software engineering jauh lebih cepat</a:t>
            </a:r>
            <a:endParaRPr lang="en-US" sz="1800" dirty="0"/>
          </a:p>
          <a:p>
            <a:pPr algn="ctr" indent="0" marL="0">
              <a:buNone/>
            </a:pPr>
            <a:r>
              <a:rPr lang="en-US" sz="1800" i="1" dirty="0">
                <a:solidFill>
                  <a:srgbClr val="132033"/>
                </a:solidFill>
                <a:latin typeface="Georgia" pitchFamily="34" charset="0"/>
                <a:ea typeface="Georgia" pitchFamily="34" charset="-122"/>
                <a:cs typeface="Georgia" pitchFamily="34" charset="-120"/>
              </a:rPr>
              <a:t>ketika kita memberi spesifikasi, batas, ownership,</a:t>
            </a:r>
            <a:endParaRPr lang="en-US" sz="1800" dirty="0"/>
          </a:p>
          <a:p>
            <a:pPr algn="ctr" indent="0" marL="0">
              <a:buNone/>
            </a:pPr>
            <a:r>
              <a:rPr lang="en-US" sz="1800" i="1" dirty="0">
                <a:solidFill>
                  <a:srgbClr val="132033"/>
                </a:solidFill>
                <a:latin typeface="Georgia" pitchFamily="34" charset="0"/>
                <a:ea typeface="Georgia" pitchFamily="34" charset="-122"/>
                <a:cs typeface="Georgia" pitchFamily="34" charset="-120"/>
              </a:rPr>
              <a:t>tools, dan verifikasi yang tepat.</a:t>
            </a:r>
            <a:endParaRPr lang="en-US" sz="1800" dirty="0"/>
          </a:p>
        </p:txBody>
      </p:sp>
      <p:sp>
        <p:nvSpPr>
          <p:cNvPr id="9" name="Shape 5"/>
          <p:cNvSpPr/>
          <p:nvPr/>
        </p:nvSpPr>
        <p:spPr>
          <a:xfrm>
            <a:off x="0" y="4800600"/>
            <a:ext cx="9144000" cy="342900"/>
          </a:xfrm>
          <a:prstGeom prst="rect">
            <a:avLst/>
          </a:prstGeom>
          <a:solidFill>
            <a:srgbClr val="132033"/>
          </a:solidFill>
          <a:ln w="12700">
            <a:solidFill>
              <a:srgbClr val="132033"/>
            </a:solidFill>
            <a:prstDash val="solid"/>
          </a:ln>
        </p:spPr>
      </p:sp>
      <p:sp>
        <p:nvSpPr>
          <p:cNvPr id="10" name="Text 6"/>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11" name="Text 7"/>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3 / 18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Kenapa SPEC, bukan “vibes”?</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Prompt bukan sumber kebenaran</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Shape 3"/>
          <p:cNvSpPr/>
          <p:nvPr/>
        </p:nvSpPr>
        <p:spPr>
          <a:xfrm>
            <a:off x="365760" y="1143000"/>
            <a:ext cx="4023360" cy="3200400"/>
          </a:xfrm>
          <a:prstGeom prst="roundRect">
            <a:avLst>
              <a:gd name="adj" fmla="val 2286"/>
            </a:avLst>
          </a:prstGeom>
          <a:solidFill>
            <a:srgbClr val="FFFFFF"/>
          </a:solidFill>
          <a:ln w="12700">
            <a:solidFill>
              <a:srgbClr val="D4CBBC"/>
            </a:solidFill>
            <a:prstDash val="solid"/>
          </a:ln>
        </p:spPr>
      </p:sp>
      <p:sp>
        <p:nvSpPr>
          <p:cNvPr id="8" name="Text 4"/>
          <p:cNvSpPr/>
          <p:nvPr/>
        </p:nvSpPr>
        <p:spPr>
          <a:xfrm>
            <a:off x="548640" y="1280160"/>
            <a:ext cx="3657600" cy="320040"/>
          </a:xfrm>
          <a:prstGeom prst="rect">
            <a:avLst/>
          </a:prstGeom>
          <a:noFill/>
          <a:ln/>
        </p:spPr>
        <p:txBody>
          <a:bodyPr wrap="square" rtlCol="0" anchor="ctr"/>
          <a:lstStyle/>
          <a:p>
            <a:pPr indent="0" marL="0">
              <a:buNone/>
            </a:pPr>
            <a:r>
              <a:rPr lang="en-US" sz="1600" b="1" dirty="0">
                <a:solidFill>
                  <a:srgbClr val="B45309"/>
                </a:solidFill>
                <a:latin typeface="Calibri" pitchFamily="34" charset="0"/>
                <a:ea typeface="Calibri" pitchFamily="34" charset="-122"/>
                <a:cs typeface="Calibri" pitchFamily="34" charset="-120"/>
              </a:rPr>
              <a:t>Tanpa SPEC</a:t>
            </a:r>
            <a:endParaRPr lang="en-US" sz="1600" dirty="0"/>
          </a:p>
        </p:txBody>
      </p:sp>
      <p:sp>
        <p:nvSpPr>
          <p:cNvPr id="9" name="Text 5"/>
          <p:cNvSpPr/>
          <p:nvPr/>
        </p:nvSpPr>
        <p:spPr>
          <a:xfrm>
            <a:off x="548640" y="1737360"/>
            <a:ext cx="3657600" cy="2286000"/>
          </a:xfrm>
          <a:prstGeom prst="rect">
            <a:avLst/>
          </a:prstGeom>
          <a:noFill/>
          <a:ln/>
        </p:spPr>
        <p:txBody>
          <a:bodyPr wrap="square" rtlCol="0" anchor="ctr"/>
          <a:lstStyle/>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Hasil tidak deterministik</a:t>
            </a:r>
            <a:endParaRPr lang="en-US" sz="1400" dirty="0"/>
          </a:p>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SQL liar / halusinasi skema</a:t>
            </a:r>
            <a:endParaRPr lang="en-US" sz="1400" dirty="0"/>
          </a:p>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Sulit diuji ulang</a:t>
            </a:r>
            <a:endParaRPr lang="en-US" sz="1400" dirty="0"/>
          </a:p>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Sulit diwariskan ke agent lain</a:t>
            </a:r>
            <a:endParaRPr lang="en-US" sz="1400" dirty="0"/>
          </a:p>
        </p:txBody>
      </p:sp>
      <p:sp>
        <p:nvSpPr>
          <p:cNvPr id="10" name="Shape 6"/>
          <p:cNvSpPr/>
          <p:nvPr/>
        </p:nvSpPr>
        <p:spPr>
          <a:xfrm>
            <a:off x="4754880" y="1143000"/>
            <a:ext cx="4023360" cy="3200400"/>
          </a:xfrm>
          <a:prstGeom prst="roundRect">
            <a:avLst>
              <a:gd name="adj" fmla="val 2286"/>
            </a:avLst>
          </a:prstGeom>
          <a:solidFill>
            <a:srgbClr val="E8F0FA"/>
          </a:solidFill>
          <a:ln w="12700">
            <a:solidFill>
              <a:srgbClr val="1E4D8C"/>
            </a:solidFill>
            <a:prstDash val="solid"/>
          </a:ln>
        </p:spPr>
      </p:sp>
      <p:sp>
        <p:nvSpPr>
          <p:cNvPr id="11" name="Text 7"/>
          <p:cNvSpPr/>
          <p:nvPr/>
        </p:nvSpPr>
        <p:spPr>
          <a:xfrm>
            <a:off x="4937760" y="1280160"/>
            <a:ext cx="3657600" cy="320040"/>
          </a:xfrm>
          <a:prstGeom prst="rect">
            <a:avLst/>
          </a:prstGeom>
          <a:noFill/>
          <a:ln/>
        </p:spPr>
        <p:txBody>
          <a:bodyPr wrap="square" rtlCol="0" anchor="ctr"/>
          <a:lstStyle/>
          <a:p>
            <a:pPr indent="0" marL="0">
              <a:buNone/>
            </a:pPr>
            <a:r>
              <a:rPr lang="en-US" sz="1600" b="1" dirty="0">
                <a:solidFill>
                  <a:srgbClr val="1E4D8C"/>
                </a:solidFill>
                <a:latin typeface="Calibri" pitchFamily="34" charset="0"/>
                <a:ea typeface="Calibri" pitchFamily="34" charset="-122"/>
                <a:cs typeface="Calibri" pitchFamily="34" charset="-120"/>
              </a:rPr>
              <a:t>Dengan SDD</a:t>
            </a:r>
            <a:endParaRPr lang="en-US" sz="1600" dirty="0"/>
          </a:p>
        </p:txBody>
      </p:sp>
      <p:sp>
        <p:nvSpPr>
          <p:cNvPr id="12" name="Text 8"/>
          <p:cNvSpPr/>
          <p:nvPr/>
        </p:nvSpPr>
        <p:spPr>
          <a:xfrm>
            <a:off x="4937760" y="1737360"/>
            <a:ext cx="3657600" cy="2286000"/>
          </a:xfrm>
          <a:prstGeom prst="rect">
            <a:avLst/>
          </a:prstGeom>
          <a:noFill/>
          <a:ln/>
        </p:spPr>
        <p:txBody>
          <a:bodyPr wrap="square" rtlCol="0" anchor="ctr"/>
          <a:lstStyle/>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Requirement → domain → kode → tes → jejak</a:t>
            </a:r>
            <a:endParaRPr lang="en-US" sz="1400" dirty="0"/>
          </a:p>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Batas keras (no arbitrary SQL)</a:t>
            </a:r>
            <a:endParaRPr lang="en-US" sz="1400" dirty="0"/>
          </a:p>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Acceptance + regenerasi dari spesifikasi</a:t>
            </a:r>
            <a:endParaRPr lang="en-US" sz="1400" dirty="0"/>
          </a:p>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Demo tetap valid (jam demo tetap)</a:t>
            </a:r>
            <a:endParaRPr lang="en-US" sz="1400" dirty="0"/>
          </a:p>
        </p:txBody>
      </p:sp>
      <p:sp>
        <p:nvSpPr>
          <p:cNvPr id="13" name="Shape 9"/>
          <p:cNvSpPr/>
          <p:nvPr/>
        </p:nvSpPr>
        <p:spPr>
          <a:xfrm>
            <a:off x="0" y="4800600"/>
            <a:ext cx="9144000" cy="342900"/>
          </a:xfrm>
          <a:prstGeom prst="rect">
            <a:avLst/>
          </a:prstGeom>
          <a:solidFill>
            <a:srgbClr val="132033"/>
          </a:solidFill>
          <a:ln w="12700">
            <a:solidFill>
              <a:srgbClr val="132033"/>
            </a:solidFill>
            <a:prstDash val="solid"/>
          </a:ln>
        </p:spPr>
      </p:sp>
      <p:sp>
        <p:nvSpPr>
          <p:cNvPr id="14" name="Text 10"/>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15" name="Text 11"/>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4 / 18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Produk demo: SDD Analitik Kopilot</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Referensi Spec-Driven Development untuk analytics agentic</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pic>
        <p:nvPicPr>
          <p:cNvPr id="7" name="Image 1" descr="/Users/iman.suherman/src/personal/sdd-analytics-copilot/public/logo.png">    </p:cNvPr>
          <p:cNvPicPr>
            <a:picLocks noChangeAspect="1"/>
          </p:cNvPicPr>
          <p:nvPr/>
        </p:nvPicPr>
        <p:blipFill>
          <a:blip r:embed="rId2"/>
          <a:stretch>
            <a:fillRect/>
          </a:stretch>
        </p:blipFill>
        <p:spPr>
          <a:xfrm>
            <a:off x="457200" y="1188720"/>
            <a:ext cx="1005840" cy="1005840"/>
          </a:xfrm>
          <a:prstGeom prst="rect">
            <a:avLst/>
          </a:prstGeom>
        </p:spPr>
      </p:pic>
      <p:sp>
        <p:nvSpPr>
          <p:cNvPr id="8" name="Text 3"/>
          <p:cNvSpPr/>
          <p:nvPr/>
        </p:nvSpPr>
        <p:spPr>
          <a:xfrm>
            <a:off x="1737360" y="1143000"/>
            <a:ext cx="6858000" cy="3200400"/>
          </a:xfrm>
          <a:prstGeom prst="rect">
            <a:avLst/>
          </a:prstGeom>
          <a:noFill/>
          <a:ln/>
        </p:spPr>
        <p:txBody>
          <a:bodyPr wrap="square" rtlCol="0" anchor="ctr"/>
          <a:lstStyle/>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Next.js monolith + SQLite multi-tenant (6 perusahaan fiktif Indonesia)</a:t>
            </a:r>
            <a:endParaRPr lang="en-US" sz="1400" dirty="0"/>
          </a:p>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Kopilot mengambang (bubble) → panel besar / layar penuh</a:t>
            </a:r>
            <a:endParaRPr lang="en-US" sz="1400" dirty="0"/>
          </a:p>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QueryPlan terkendali → validate → compile → execute (bukan SQL dari LLM)</a:t>
            </a:r>
            <a:endParaRPr lang="en-US" sz="1400" dirty="0"/>
          </a:p>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Vertex AI (Gemini) via npm run login + fallback mock</a:t>
            </a:r>
            <a:endParaRPr lang="en-US" sz="1400" dirty="0"/>
          </a:p>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UI &amp; jawaban Bahasa Indonesia · IDR · wilayah Sumatera (bukan APAC)</a:t>
            </a:r>
            <a:endParaRPr lang="en-US" sz="1400" dirty="0"/>
          </a:p>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CSV per sektor (marketplace / on-demand / travel / logistik)</a:t>
            </a:r>
            <a:endParaRPr lang="en-US" sz="1400" dirty="0"/>
          </a:p>
          <a:p>
            <a:pPr marL="342900" indent="-342900">
              <a:buSzPct val="100000"/>
              <a:buChar char="•"/>
            </a:pPr>
            <a:r>
              <a:rPr lang="en-US" sz="1400" dirty="0">
                <a:solidFill>
                  <a:srgbClr val="132033"/>
                </a:solidFill>
                <a:latin typeface="Calibri" pitchFamily="34" charset="0"/>
                <a:ea typeface="Calibri" pitchFamily="34" charset="-122"/>
                <a:cs typeface="Calibri" pitchFamily="34" charset="-120"/>
              </a:rPr>
              <a:t>Jam demo tetap: 2026-09-05 → “bulan lalu” = Agustus 2026</a:t>
            </a:r>
            <a:endParaRPr lang="en-US" sz="1400" dirty="0"/>
          </a:p>
        </p:txBody>
      </p:sp>
      <p:sp>
        <p:nvSpPr>
          <p:cNvPr id="9" name="Shape 4"/>
          <p:cNvSpPr/>
          <p:nvPr/>
        </p:nvSpPr>
        <p:spPr>
          <a:xfrm>
            <a:off x="0" y="4800600"/>
            <a:ext cx="9144000" cy="342900"/>
          </a:xfrm>
          <a:prstGeom prst="rect">
            <a:avLst/>
          </a:prstGeom>
          <a:solidFill>
            <a:srgbClr val="132033"/>
          </a:solidFill>
          <a:ln w="12700">
            <a:solidFill>
              <a:srgbClr val="132033"/>
            </a:solidFill>
            <a:prstDash val="solid"/>
          </a:ln>
        </p:spPr>
      </p:sp>
      <p:sp>
        <p:nvSpPr>
          <p:cNvPr id="10" name="Text 5"/>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11" name="Text 6"/>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5 / 18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Alur hero (bukti runnable)</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Yang harus terlihat di sesi live</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Shape 3"/>
          <p:cNvSpPr/>
          <p:nvPr/>
        </p:nvSpPr>
        <p:spPr>
          <a:xfrm>
            <a:off x="365760" y="1645920"/>
            <a:ext cx="1600200" cy="1463040"/>
          </a:xfrm>
          <a:prstGeom prst="roundRect">
            <a:avLst>
              <a:gd name="adj" fmla="val 6250"/>
            </a:avLst>
          </a:prstGeom>
          <a:solidFill>
            <a:srgbClr val="FFFFFF"/>
          </a:solidFill>
          <a:ln w="19050">
            <a:solidFill>
              <a:srgbClr val="1E4D8C"/>
            </a:solidFill>
            <a:prstDash val="solid"/>
          </a:ln>
        </p:spPr>
      </p:sp>
      <p:sp>
        <p:nvSpPr>
          <p:cNvPr id="8" name="Text 4"/>
          <p:cNvSpPr/>
          <p:nvPr/>
        </p:nvSpPr>
        <p:spPr>
          <a:xfrm>
            <a:off x="365760" y="1783080"/>
            <a:ext cx="1600200" cy="274320"/>
          </a:xfrm>
          <a:prstGeom prst="rect">
            <a:avLst/>
          </a:prstGeom>
          <a:noFill/>
          <a:ln/>
        </p:spPr>
        <p:txBody>
          <a:bodyPr wrap="square" rtlCol="0" anchor="ctr"/>
          <a:lstStyle/>
          <a:p>
            <a:pPr algn="ctr" indent="0" marL="0">
              <a:buNone/>
            </a:pPr>
            <a:r>
              <a:rPr lang="en-US" sz="1200" dirty="0">
                <a:solidFill>
                  <a:srgbClr val="5B6B7C"/>
                </a:solidFill>
                <a:latin typeface="Calibri" pitchFamily="34" charset="0"/>
                <a:ea typeface="Calibri" pitchFamily="34" charset="-122"/>
                <a:cs typeface="Calibri" pitchFamily="34" charset="-120"/>
              </a:rPr>
              <a:t>01</a:t>
            </a:r>
            <a:endParaRPr lang="en-US" sz="1200" dirty="0"/>
          </a:p>
        </p:txBody>
      </p:sp>
      <p:sp>
        <p:nvSpPr>
          <p:cNvPr id="9" name="Text 5"/>
          <p:cNvSpPr/>
          <p:nvPr/>
        </p:nvSpPr>
        <p:spPr>
          <a:xfrm>
            <a:off x="365760" y="2103120"/>
            <a:ext cx="1600200" cy="365760"/>
          </a:xfrm>
          <a:prstGeom prst="rect">
            <a:avLst/>
          </a:prstGeom>
          <a:noFill/>
          <a:ln/>
        </p:spPr>
        <p:txBody>
          <a:bodyPr wrap="square" rtlCol="0" anchor="ctr"/>
          <a:lstStyle/>
          <a:p>
            <a:pPr algn="ctr" indent="0" marL="0">
              <a:buNone/>
            </a:pPr>
            <a:r>
              <a:rPr lang="en-US" sz="1600" b="1" dirty="0">
                <a:solidFill>
                  <a:srgbClr val="132033"/>
                </a:solidFill>
                <a:latin typeface="Georgia" pitchFamily="34" charset="0"/>
                <a:ea typeface="Georgia" pitchFamily="34" charset="-122"/>
                <a:cs typeface="Georgia" pitchFamily="34" charset="-120"/>
              </a:rPr>
              <a:t>Tanya</a:t>
            </a:r>
            <a:endParaRPr lang="en-US" sz="1600" dirty="0"/>
          </a:p>
        </p:txBody>
      </p:sp>
      <p:sp>
        <p:nvSpPr>
          <p:cNvPr id="10" name="Text 6"/>
          <p:cNvSpPr/>
          <p:nvPr/>
        </p:nvSpPr>
        <p:spPr>
          <a:xfrm>
            <a:off x="438912" y="2560320"/>
            <a:ext cx="1463040" cy="365760"/>
          </a:xfrm>
          <a:prstGeom prst="rect">
            <a:avLst/>
          </a:prstGeom>
          <a:noFill/>
          <a:ln/>
        </p:spPr>
        <p:txBody>
          <a:bodyPr wrap="square"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Bahasa alami</a:t>
            </a:r>
            <a:endParaRPr lang="en-US" sz="1100" dirty="0"/>
          </a:p>
        </p:txBody>
      </p:sp>
      <p:sp>
        <p:nvSpPr>
          <p:cNvPr id="11" name="Text 7"/>
          <p:cNvSpPr/>
          <p:nvPr/>
        </p:nvSpPr>
        <p:spPr>
          <a:xfrm>
            <a:off x="1874520" y="2148840"/>
            <a:ext cx="274320" cy="365760"/>
          </a:xfrm>
          <a:prstGeom prst="rect">
            <a:avLst/>
          </a:prstGeom>
          <a:noFill/>
          <a:ln/>
        </p:spPr>
        <p:txBody>
          <a:bodyPr wrap="square" rtlCol="0" anchor="ctr"/>
          <a:lstStyle/>
          <a:p>
            <a:pPr indent="0" marL="0">
              <a:buNone/>
            </a:pPr>
            <a:r>
              <a:rPr lang="en-US" sz="1800" b="1" dirty="0">
                <a:solidFill>
                  <a:srgbClr val="1E4D8C"/>
                </a:solidFill>
              </a:rPr>
              <a:t>→</a:t>
            </a:r>
            <a:endParaRPr lang="en-US" sz="1800" dirty="0"/>
          </a:p>
        </p:txBody>
      </p:sp>
      <p:sp>
        <p:nvSpPr>
          <p:cNvPr id="12" name="Shape 8"/>
          <p:cNvSpPr/>
          <p:nvPr/>
        </p:nvSpPr>
        <p:spPr>
          <a:xfrm>
            <a:off x="2103120" y="1645920"/>
            <a:ext cx="1600200" cy="1463040"/>
          </a:xfrm>
          <a:prstGeom prst="roundRect">
            <a:avLst>
              <a:gd name="adj" fmla="val 6250"/>
            </a:avLst>
          </a:prstGeom>
          <a:solidFill>
            <a:srgbClr val="FFFFFF"/>
          </a:solidFill>
          <a:ln w="19050">
            <a:solidFill>
              <a:srgbClr val="1E4D8C"/>
            </a:solidFill>
            <a:prstDash val="solid"/>
          </a:ln>
        </p:spPr>
      </p:sp>
      <p:sp>
        <p:nvSpPr>
          <p:cNvPr id="13" name="Text 9"/>
          <p:cNvSpPr/>
          <p:nvPr/>
        </p:nvSpPr>
        <p:spPr>
          <a:xfrm>
            <a:off x="2103120" y="1783080"/>
            <a:ext cx="1600200" cy="274320"/>
          </a:xfrm>
          <a:prstGeom prst="rect">
            <a:avLst/>
          </a:prstGeom>
          <a:noFill/>
          <a:ln/>
        </p:spPr>
        <p:txBody>
          <a:bodyPr wrap="square" rtlCol="0" anchor="ctr"/>
          <a:lstStyle/>
          <a:p>
            <a:pPr algn="ctr" indent="0" marL="0">
              <a:buNone/>
            </a:pPr>
            <a:r>
              <a:rPr lang="en-US" sz="1200" dirty="0">
                <a:solidFill>
                  <a:srgbClr val="5B6B7C"/>
                </a:solidFill>
                <a:latin typeface="Calibri" pitchFamily="34" charset="0"/>
                <a:ea typeface="Calibri" pitchFamily="34" charset="-122"/>
                <a:cs typeface="Calibri" pitchFamily="34" charset="-120"/>
              </a:rPr>
              <a:t>02</a:t>
            </a:r>
            <a:endParaRPr lang="en-US" sz="1200" dirty="0"/>
          </a:p>
        </p:txBody>
      </p:sp>
      <p:sp>
        <p:nvSpPr>
          <p:cNvPr id="14" name="Text 10"/>
          <p:cNvSpPr/>
          <p:nvPr/>
        </p:nvSpPr>
        <p:spPr>
          <a:xfrm>
            <a:off x="2103120" y="2103120"/>
            <a:ext cx="1600200" cy="365760"/>
          </a:xfrm>
          <a:prstGeom prst="rect">
            <a:avLst/>
          </a:prstGeom>
          <a:noFill/>
          <a:ln/>
        </p:spPr>
        <p:txBody>
          <a:bodyPr wrap="square" rtlCol="0" anchor="ctr"/>
          <a:lstStyle/>
          <a:p>
            <a:pPr algn="ctr" indent="0" marL="0">
              <a:buNone/>
            </a:pPr>
            <a:r>
              <a:rPr lang="en-US" sz="1600" b="1" dirty="0">
                <a:solidFill>
                  <a:srgbClr val="132033"/>
                </a:solidFill>
                <a:latin typeface="Georgia" pitchFamily="34" charset="0"/>
                <a:ea typeface="Georgia" pitchFamily="34" charset="-122"/>
                <a:cs typeface="Georgia" pitchFamily="34" charset="-120"/>
              </a:rPr>
              <a:t>Rencana</a:t>
            </a:r>
            <a:endParaRPr lang="en-US" sz="1600" dirty="0"/>
          </a:p>
        </p:txBody>
      </p:sp>
      <p:sp>
        <p:nvSpPr>
          <p:cNvPr id="15" name="Text 11"/>
          <p:cNvSpPr/>
          <p:nvPr/>
        </p:nvSpPr>
        <p:spPr>
          <a:xfrm>
            <a:off x="2176272" y="2560320"/>
            <a:ext cx="1463040" cy="365760"/>
          </a:xfrm>
          <a:prstGeom prst="rect">
            <a:avLst/>
          </a:prstGeom>
          <a:noFill/>
          <a:ln/>
        </p:spPr>
        <p:txBody>
          <a:bodyPr wrap="square"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QueryPlan</a:t>
            </a:r>
            <a:endParaRPr lang="en-US" sz="1100" dirty="0"/>
          </a:p>
        </p:txBody>
      </p:sp>
      <p:sp>
        <p:nvSpPr>
          <p:cNvPr id="16" name="Text 12"/>
          <p:cNvSpPr/>
          <p:nvPr/>
        </p:nvSpPr>
        <p:spPr>
          <a:xfrm>
            <a:off x="3611880" y="2148840"/>
            <a:ext cx="274320" cy="365760"/>
          </a:xfrm>
          <a:prstGeom prst="rect">
            <a:avLst/>
          </a:prstGeom>
          <a:noFill/>
          <a:ln/>
        </p:spPr>
        <p:txBody>
          <a:bodyPr wrap="square" rtlCol="0" anchor="ctr"/>
          <a:lstStyle/>
          <a:p>
            <a:pPr indent="0" marL="0">
              <a:buNone/>
            </a:pPr>
            <a:r>
              <a:rPr lang="en-US" sz="1800" b="1" dirty="0">
                <a:solidFill>
                  <a:srgbClr val="1E4D8C"/>
                </a:solidFill>
              </a:rPr>
              <a:t>→</a:t>
            </a:r>
            <a:endParaRPr lang="en-US" sz="1800" dirty="0"/>
          </a:p>
        </p:txBody>
      </p:sp>
      <p:sp>
        <p:nvSpPr>
          <p:cNvPr id="17" name="Shape 13"/>
          <p:cNvSpPr/>
          <p:nvPr/>
        </p:nvSpPr>
        <p:spPr>
          <a:xfrm>
            <a:off x="3840480" y="1645920"/>
            <a:ext cx="1600200" cy="1463040"/>
          </a:xfrm>
          <a:prstGeom prst="roundRect">
            <a:avLst>
              <a:gd name="adj" fmla="val 6250"/>
            </a:avLst>
          </a:prstGeom>
          <a:solidFill>
            <a:srgbClr val="FFFFFF"/>
          </a:solidFill>
          <a:ln w="19050">
            <a:solidFill>
              <a:srgbClr val="1E4D8C"/>
            </a:solidFill>
            <a:prstDash val="solid"/>
          </a:ln>
        </p:spPr>
      </p:sp>
      <p:sp>
        <p:nvSpPr>
          <p:cNvPr id="18" name="Text 14"/>
          <p:cNvSpPr/>
          <p:nvPr/>
        </p:nvSpPr>
        <p:spPr>
          <a:xfrm>
            <a:off x="3840480" y="1783080"/>
            <a:ext cx="1600200" cy="274320"/>
          </a:xfrm>
          <a:prstGeom prst="rect">
            <a:avLst/>
          </a:prstGeom>
          <a:noFill/>
          <a:ln/>
        </p:spPr>
        <p:txBody>
          <a:bodyPr wrap="square" rtlCol="0" anchor="ctr"/>
          <a:lstStyle/>
          <a:p>
            <a:pPr algn="ctr" indent="0" marL="0">
              <a:buNone/>
            </a:pPr>
            <a:r>
              <a:rPr lang="en-US" sz="1200" dirty="0">
                <a:solidFill>
                  <a:srgbClr val="5B6B7C"/>
                </a:solidFill>
                <a:latin typeface="Calibri" pitchFamily="34" charset="0"/>
                <a:ea typeface="Calibri" pitchFamily="34" charset="-122"/>
                <a:cs typeface="Calibri" pitchFamily="34" charset="-120"/>
              </a:rPr>
              <a:t>03</a:t>
            </a:r>
            <a:endParaRPr lang="en-US" sz="1200" dirty="0"/>
          </a:p>
        </p:txBody>
      </p:sp>
      <p:sp>
        <p:nvSpPr>
          <p:cNvPr id="19" name="Text 15"/>
          <p:cNvSpPr/>
          <p:nvPr/>
        </p:nvSpPr>
        <p:spPr>
          <a:xfrm>
            <a:off x="3840480" y="2103120"/>
            <a:ext cx="1600200" cy="365760"/>
          </a:xfrm>
          <a:prstGeom prst="rect">
            <a:avLst/>
          </a:prstGeom>
          <a:noFill/>
          <a:ln/>
        </p:spPr>
        <p:txBody>
          <a:bodyPr wrap="square" rtlCol="0" anchor="ctr"/>
          <a:lstStyle/>
          <a:p>
            <a:pPr algn="ctr" indent="0" marL="0">
              <a:buNone/>
            </a:pPr>
            <a:r>
              <a:rPr lang="en-US" sz="1600" b="1" dirty="0">
                <a:solidFill>
                  <a:srgbClr val="132033"/>
                </a:solidFill>
                <a:latin typeface="Georgia" pitchFamily="34" charset="0"/>
                <a:ea typeface="Georgia" pitchFamily="34" charset="-122"/>
                <a:cs typeface="Georgia" pitchFamily="34" charset="-120"/>
              </a:rPr>
              <a:t>Eksekusi</a:t>
            </a:r>
            <a:endParaRPr lang="en-US" sz="1600" dirty="0"/>
          </a:p>
        </p:txBody>
      </p:sp>
      <p:sp>
        <p:nvSpPr>
          <p:cNvPr id="20" name="Text 16"/>
          <p:cNvSpPr/>
          <p:nvPr/>
        </p:nvSpPr>
        <p:spPr>
          <a:xfrm>
            <a:off x="3913632" y="2560320"/>
            <a:ext cx="1463040" cy="365760"/>
          </a:xfrm>
          <a:prstGeom prst="rect">
            <a:avLst/>
          </a:prstGeom>
          <a:noFill/>
          <a:ln/>
        </p:spPr>
        <p:txBody>
          <a:bodyPr wrap="square"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SQLite + company_id</a:t>
            </a:r>
            <a:endParaRPr lang="en-US" sz="1100" dirty="0"/>
          </a:p>
        </p:txBody>
      </p:sp>
      <p:sp>
        <p:nvSpPr>
          <p:cNvPr id="21" name="Text 17"/>
          <p:cNvSpPr/>
          <p:nvPr/>
        </p:nvSpPr>
        <p:spPr>
          <a:xfrm>
            <a:off x="5349240" y="2148840"/>
            <a:ext cx="274320" cy="365760"/>
          </a:xfrm>
          <a:prstGeom prst="rect">
            <a:avLst/>
          </a:prstGeom>
          <a:noFill/>
          <a:ln/>
        </p:spPr>
        <p:txBody>
          <a:bodyPr wrap="square" rtlCol="0" anchor="ctr"/>
          <a:lstStyle/>
          <a:p>
            <a:pPr indent="0" marL="0">
              <a:buNone/>
            </a:pPr>
            <a:r>
              <a:rPr lang="en-US" sz="1800" b="1" dirty="0">
                <a:solidFill>
                  <a:srgbClr val="1E4D8C"/>
                </a:solidFill>
              </a:rPr>
              <a:t>→</a:t>
            </a:r>
            <a:endParaRPr lang="en-US" sz="1800" dirty="0"/>
          </a:p>
        </p:txBody>
      </p:sp>
      <p:sp>
        <p:nvSpPr>
          <p:cNvPr id="22" name="Shape 18"/>
          <p:cNvSpPr/>
          <p:nvPr/>
        </p:nvSpPr>
        <p:spPr>
          <a:xfrm>
            <a:off x="5577840" y="1645920"/>
            <a:ext cx="1600200" cy="1463040"/>
          </a:xfrm>
          <a:prstGeom prst="roundRect">
            <a:avLst>
              <a:gd name="adj" fmla="val 6250"/>
            </a:avLst>
          </a:prstGeom>
          <a:solidFill>
            <a:srgbClr val="FFFFFF"/>
          </a:solidFill>
          <a:ln w="19050">
            <a:solidFill>
              <a:srgbClr val="1E4D8C"/>
            </a:solidFill>
            <a:prstDash val="solid"/>
          </a:ln>
        </p:spPr>
      </p:sp>
      <p:sp>
        <p:nvSpPr>
          <p:cNvPr id="23" name="Text 19"/>
          <p:cNvSpPr/>
          <p:nvPr/>
        </p:nvSpPr>
        <p:spPr>
          <a:xfrm>
            <a:off x="5577840" y="1783080"/>
            <a:ext cx="1600200" cy="274320"/>
          </a:xfrm>
          <a:prstGeom prst="rect">
            <a:avLst/>
          </a:prstGeom>
          <a:noFill/>
          <a:ln/>
        </p:spPr>
        <p:txBody>
          <a:bodyPr wrap="square" rtlCol="0" anchor="ctr"/>
          <a:lstStyle/>
          <a:p>
            <a:pPr algn="ctr" indent="0" marL="0">
              <a:buNone/>
            </a:pPr>
            <a:r>
              <a:rPr lang="en-US" sz="1200" dirty="0">
                <a:solidFill>
                  <a:srgbClr val="5B6B7C"/>
                </a:solidFill>
                <a:latin typeface="Calibri" pitchFamily="34" charset="0"/>
                <a:ea typeface="Calibri" pitchFamily="34" charset="-122"/>
                <a:cs typeface="Calibri" pitchFamily="34" charset="-120"/>
              </a:rPr>
              <a:t>04</a:t>
            </a:r>
            <a:endParaRPr lang="en-US" sz="1200" dirty="0"/>
          </a:p>
        </p:txBody>
      </p:sp>
      <p:sp>
        <p:nvSpPr>
          <p:cNvPr id="24" name="Text 20"/>
          <p:cNvSpPr/>
          <p:nvPr/>
        </p:nvSpPr>
        <p:spPr>
          <a:xfrm>
            <a:off x="5577840" y="2103120"/>
            <a:ext cx="1600200" cy="365760"/>
          </a:xfrm>
          <a:prstGeom prst="rect">
            <a:avLst/>
          </a:prstGeom>
          <a:noFill/>
          <a:ln/>
        </p:spPr>
        <p:txBody>
          <a:bodyPr wrap="square" rtlCol="0" anchor="ctr"/>
          <a:lstStyle/>
          <a:p>
            <a:pPr algn="ctr" indent="0" marL="0">
              <a:buNone/>
            </a:pPr>
            <a:r>
              <a:rPr lang="en-US" sz="1600" b="1" dirty="0">
                <a:solidFill>
                  <a:srgbClr val="132033"/>
                </a:solidFill>
                <a:latin typeface="Georgia" pitchFamily="34" charset="0"/>
                <a:ea typeface="Georgia" pitchFamily="34" charset="-122"/>
                <a:cs typeface="Georgia" pitchFamily="34" charset="-120"/>
              </a:rPr>
              <a:t>Jelaskan</a:t>
            </a:r>
            <a:endParaRPr lang="en-US" sz="1600" dirty="0"/>
          </a:p>
        </p:txBody>
      </p:sp>
      <p:sp>
        <p:nvSpPr>
          <p:cNvPr id="25" name="Text 21"/>
          <p:cNvSpPr/>
          <p:nvPr/>
        </p:nvSpPr>
        <p:spPr>
          <a:xfrm>
            <a:off x="5650992" y="2560320"/>
            <a:ext cx="1463040" cy="365760"/>
          </a:xfrm>
          <a:prstGeom prst="rect">
            <a:avLst/>
          </a:prstGeom>
          <a:noFill/>
          <a:ln/>
        </p:spPr>
        <p:txBody>
          <a:bodyPr wrap="square"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Jawaban + grafik</a:t>
            </a:r>
            <a:endParaRPr lang="en-US" sz="1100" dirty="0"/>
          </a:p>
        </p:txBody>
      </p:sp>
      <p:sp>
        <p:nvSpPr>
          <p:cNvPr id="26" name="Text 22"/>
          <p:cNvSpPr/>
          <p:nvPr/>
        </p:nvSpPr>
        <p:spPr>
          <a:xfrm>
            <a:off x="7086600" y="2148840"/>
            <a:ext cx="274320" cy="365760"/>
          </a:xfrm>
          <a:prstGeom prst="rect">
            <a:avLst/>
          </a:prstGeom>
          <a:noFill/>
          <a:ln/>
        </p:spPr>
        <p:txBody>
          <a:bodyPr wrap="square" rtlCol="0" anchor="ctr"/>
          <a:lstStyle/>
          <a:p>
            <a:pPr indent="0" marL="0">
              <a:buNone/>
            </a:pPr>
            <a:r>
              <a:rPr lang="en-US" sz="1800" b="1" dirty="0">
                <a:solidFill>
                  <a:srgbClr val="1E4D8C"/>
                </a:solidFill>
              </a:rPr>
              <a:t>→</a:t>
            </a:r>
            <a:endParaRPr lang="en-US" sz="1800" dirty="0"/>
          </a:p>
        </p:txBody>
      </p:sp>
      <p:sp>
        <p:nvSpPr>
          <p:cNvPr id="27" name="Shape 23"/>
          <p:cNvSpPr/>
          <p:nvPr/>
        </p:nvSpPr>
        <p:spPr>
          <a:xfrm>
            <a:off x="7315200" y="1645920"/>
            <a:ext cx="1600200" cy="1463040"/>
          </a:xfrm>
          <a:prstGeom prst="roundRect">
            <a:avLst>
              <a:gd name="adj" fmla="val 6250"/>
            </a:avLst>
          </a:prstGeom>
          <a:solidFill>
            <a:srgbClr val="FFFFFF"/>
          </a:solidFill>
          <a:ln w="19050">
            <a:solidFill>
              <a:srgbClr val="1E4D8C"/>
            </a:solidFill>
            <a:prstDash val="solid"/>
          </a:ln>
        </p:spPr>
      </p:sp>
      <p:sp>
        <p:nvSpPr>
          <p:cNvPr id="28" name="Text 24"/>
          <p:cNvSpPr/>
          <p:nvPr/>
        </p:nvSpPr>
        <p:spPr>
          <a:xfrm>
            <a:off x="7315200" y="1783080"/>
            <a:ext cx="1600200" cy="274320"/>
          </a:xfrm>
          <a:prstGeom prst="rect">
            <a:avLst/>
          </a:prstGeom>
          <a:noFill/>
          <a:ln/>
        </p:spPr>
        <p:txBody>
          <a:bodyPr wrap="square" rtlCol="0" anchor="ctr"/>
          <a:lstStyle/>
          <a:p>
            <a:pPr algn="ctr" indent="0" marL="0">
              <a:buNone/>
            </a:pPr>
            <a:r>
              <a:rPr lang="en-US" sz="1200" dirty="0">
                <a:solidFill>
                  <a:srgbClr val="5B6B7C"/>
                </a:solidFill>
                <a:latin typeface="Calibri" pitchFamily="34" charset="0"/>
                <a:ea typeface="Calibri" pitchFamily="34" charset="-122"/>
                <a:cs typeface="Calibri" pitchFamily="34" charset="-120"/>
              </a:rPr>
              <a:t>05</a:t>
            </a:r>
            <a:endParaRPr lang="en-US" sz="1200" dirty="0"/>
          </a:p>
        </p:txBody>
      </p:sp>
      <p:sp>
        <p:nvSpPr>
          <p:cNvPr id="29" name="Text 25"/>
          <p:cNvSpPr/>
          <p:nvPr/>
        </p:nvSpPr>
        <p:spPr>
          <a:xfrm>
            <a:off x="7315200" y="2103120"/>
            <a:ext cx="1600200" cy="365760"/>
          </a:xfrm>
          <a:prstGeom prst="rect">
            <a:avLst/>
          </a:prstGeom>
          <a:noFill/>
          <a:ln/>
        </p:spPr>
        <p:txBody>
          <a:bodyPr wrap="square" rtlCol="0" anchor="ctr"/>
          <a:lstStyle/>
          <a:p>
            <a:pPr algn="ctr" indent="0" marL="0">
              <a:buNone/>
            </a:pPr>
            <a:r>
              <a:rPr lang="en-US" sz="1600" b="1" dirty="0">
                <a:solidFill>
                  <a:srgbClr val="132033"/>
                </a:solidFill>
                <a:latin typeface="Georgia" pitchFamily="34" charset="0"/>
                <a:ea typeface="Georgia" pitchFamily="34" charset="-122"/>
                <a:cs typeface="Georgia" pitchFamily="34" charset="-120"/>
              </a:rPr>
              <a:t>Simpan</a:t>
            </a:r>
            <a:endParaRPr lang="en-US" sz="1600" dirty="0"/>
          </a:p>
        </p:txBody>
      </p:sp>
      <p:sp>
        <p:nvSpPr>
          <p:cNvPr id="30" name="Text 26"/>
          <p:cNvSpPr/>
          <p:nvPr/>
        </p:nvSpPr>
        <p:spPr>
          <a:xfrm>
            <a:off x="7388352" y="2560320"/>
            <a:ext cx="1463040" cy="365760"/>
          </a:xfrm>
          <a:prstGeom prst="rect">
            <a:avLst/>
          </a:prstGeom>
          <a:noFill/>
          <a:ln/>
        </p:spPr>
        <p:txBody>
          <a:bodyPr wrap="square"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DashboardSpec</a:t>
            </a:r>
            <a:endParaRPr lang="en-US" sz="1100" dirty="0"/>
          </a:p>
        </p:txBody>
      </p:sp>
      <p:sp>
        <p:nvSpPr>
          <p:cNvPr id="31" name="Text 27"/>
          <p:cNvSpPr/>
          <p:nvPr/>
        </p:nvSpPr>
        <p:spPr>
          <a:xfrm>
            <a:off x="457200" y="3474720"/>
            <a:ext cx="8229600" cy="640080"/>
          </a:xfrm>
          <a:prstGeom prst="rect">
            <a:avLst/>
          </a:prstGeom>
          <a:noFill/>
          <a:ln/>
        </p:spPr>
        <p:txBody>
          <a:bodyPr wrap="square" rtlCol="0" anchor="ctr"/>
          <a:lstStyle/>
          <a:p>
            <a:pPr indent="0" marL="0">
              <a:buNone/>
            </a:pPr>
            <a:r>
              <a:rPr lang="en-US" sz="1300" dirty="0">
                <a:solidFill>
                  <a:srgbClr val="132033"/>
                </a:solidFill>
                <a:latin typeface="Calibri" pitchFamily="34" charset="0"/>
                <a:ea typeface="Calibri" pitchFamily="34" charset="-122"/>
                <a:cs typeface="Calibri" pitchFamily="34" charset="-120"/>
              </a:rPr>
              <a:t>Prompt demo: bandingkan pendapatan → kenapa Sumatera turun → simpan ke dasbor → ganti widget wilayah→segmen</a:t>
            </a:r>
            <a:endParaRPr lang="en-US" sz="1300" dirty="0"/>
          </a:p>
        </p:txBody>
      </p:sp>
      <p:sp>
        <p:nvSpPr>
          <p:cNvPr id="32" name="Shape 28"/>
          <p:cNvSpPr/>
          <p:nvPr/>
        </p:nvSpPr>
        <p:spPr>
          <a:xfrm>
            <a:off x="0" y="4800600"/>
            <a:ext cx="9144000" cy="342900"/>
          </a:xfrm>
          <a:prstGeom prst="rect">
            <a:avLst/>
          </a:prstGeom>
          <a:solidFill>
            <a:srgbClr val="132033"/>
          </a:solidFill>
          <a:ln w="12700">
            <a:solidFill>
              <a:srgbClr val="132033"/>
            </a:solidFill>
            <a:prstDash val="solid"/>
          </a:ln>
        </p:spPr>
      </p:sp>
      <p:sp>
        <p:nvSpPr>
          <p:cNvPr id="33" name="Text 29"/>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34" name="Text 30"/>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6 / 18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Spesifikasi sebagai kontrak</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SDD-001 … SDD-013 — sumber kebenaran regenerasi</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Shape 3"/>
          <p:cNvSpPr/>
          <p:nvPr/>
        </p:nvSpPr>
        <p:spPr>
          <a:xfrm>
            <a:off x="365760" y="1143000"/>
            <a:ext cx="8412480" cy="658368"/>
          </a:xfrm>
          <a:prstGeom prst="roundRect">
            <a:avLst>
              <a:gd name="adj" fmla="val 8333"/>
            </a:avLst>
          </a:prstGeom>
          <a:solidFill>
            <a:srgbClr val="FFFFFF"/>
          </a:solidFill>
          <a:ln w="12700">
            <a:solidFill>
              <a:srgbClr val="D4CBBC"/>
            </a:solidFill>
            <a:prstDash val="solid"/>
          </a:ln>
        </p:spPr>
      </p:sp>
      <p:sp>
        <p:nvSpPr>
          <p:cNvPr id="8" name="Text 4"/>
          <p:cNvSpPr/>
          <p:nvPr/>
        </p:nvSpPr>
        <p:spPr>
          <a:xfrm>
            <a:off x="548640" y="1280160"/>
            <a:ext cx="8046720" cy="411480"/>
          </a:xfrm>
          <a:prstGeom prst="rect">
            <a:avLst/>
          </a:prstGeom>
          <a:noFill/>
          <a:ln/>
        </p:spPr>
        <p:txBody>
          <a:bodyPr wrap="square" rtlCol="0" anchor="ctr"/>
          <a:lstStyle/>
          <a:p>
            <a:pPr indent="0" marL="0">
              <a:buNone/>
            </a:pPr>
            <a:r>
              <a:rPr lang="en-US" sz="1400" dirty="0">
                <a:solidFill>
                  <a:srgbClr val="132033"/>
                </a:solidFill>
                <a:latin typeface="Calibri" pitchFamily="34" charset="0"/>
                <a:ea typeface="Calibri" pitchFamily="34" charset="-122"/>
                <a:cs typeface="Calibri" pitchFamily="34" charset="-120"/>
              </a:rPr>
              <a:t>001 Workspace · 002 Dataset · 003 Semantic · 004 Copilot · 005 Governance</a:t>
            </a:r>
            <a:endParaRPr lang="en-US" sz="1400" dirty="0"/>
          </a:p>
        </p:txBody>
      </p:sp>
      <p:sp>
        <p:nvSpPr>
          <p:cNvPr id="9" name="Shape 5"/>
          <p:cNvSpPr/>
          <p:nvPr/>
        </p:nvSpPr>
        <p:spPr>
          <a:xfrm>
            <a:off x="365760" y="1920240"/>
            <a:ext cx="8412480" cy="658368"/>
          </a:xfrm>
          <a:prstGeom prst="roundRect">
            <a:avLst>
              <a:gd name="adj" fmla="val 8333"/>
            </a:avLst>
          </a:prstGeom>
          <a:solidFill>
            <a:srgbClr val="FFFFFF"/>
          </a:solidFill>
          <a:ln w="12700">
            <a:solidFill>
              <a:srgbClr val="D4CBBC"/>
            </a:solidFill>
            <a:prstDash val="solid"/>
          </a:ln>
        </p:spPr>
      </p:sp>
      <p:sp>
        <p:nvSpPr>
          <p:cNvPr id="10" name="Text 6"/>
          <p:cNvSpPr/>
          <p:nvPr/>
        </p:nvSpPr>
        <p:spPr>
          <a:xfrm>
            <a:off x="548640" y="2057400"/>
            <a:ext cx="8046720" cy="411480"/>
          </a:xfrm>
          <a:prstGeom prst="rect">
            <a:avLst/>
          </a:prstGeom>
          <a:noFill/>
          <a:ln/>
        </p:spPr>
        <p:txBody>
          <a:bodyPr wrap="square" rtlCol="0" anchor="ctr"/>
          <a:lstStyle/>
          <a:p>
            <a:pPr indent="0" marL="0">
              <a:buNone/>
            </a:pPr>
            <a:r>
              <a:rPr lang="en-US" sz="1400" dirty="0">
                <a:solidFill>
                  <a:srgbClr val="132033"/>
                </a:solidFill>
                <a:latin typeface="Calibri" pitchFamily="34" charset="0"/>
                <a:ea typeface="Calibri" pitchFamily="34" charset="-122"/>
                <a:cs typeface="Calibri" pitchFamily="34" charset="-120"/>
              </a:rPr>
              <a:t>006 Visualisasi · 007 Dasbor DSL · 008 Jejak · 009 Multi-tenant</a:t>
            </a:r>
            <a:endParaRPr lang="en-US" sz="1400" dirty="0"/>
          </a:p>
        </p:txBody>
      </p:sp>
      <p:sp>
        <p:nvSpPr>
          <p:cNvPr id="11" name="Shape 7"/>
          <p:cNvSpPr/>
          <p:nvPr/>
        </p:nvSpPr>
        <p:spPr>
          <a:xfrm>
            <a:off x="365760" y="2697480"/>
            <a:ext cx="8412480" cy="658368"/>
          </a:xfrm>
          <a:prstGeom prst="roundRect">
            <a:avLst>
              <a:gd name="adj" fmla="val 8333"/>
            </a:avLst>
          </a:prstGeom>
          <a:solidFill>
            <a:srgbClr val="FFFFFF"/>
          </a:solidFill>
          <a:ln w="12700">
            <a:solidFill>
              <a:srgbClr val="D4CBBC"/>
            </a:solidFill>
            <a:prstDash val="solid"/>
          </a:ln>
        </p:spPr>
      </p:sp>
      <p:sp>
        <p:nvSpPr>
          <p:cNvPr id="12" name="Text 8"/>
          <p:cNvSpPr/>
          <p:nvPr/>
        </p:nvSpPr>
        <p:spPr>
          <a:xfrm>
            <a:off x="548640" y="2834640"/>
            <a:ext cx="8046720" cy="411480"/>
          </a:xfrm>
          <a:prstGeom prst="rect">
            <a:avLst/>
          </a:prstGeom>
          <a:noFill/>
          <a:ln/>
        </p:spPr>
        <p:txBody>
          <a:bodyPr wrap="square" rtlCol="0" anchor="ctr"/>
          <a:lstStyle/>
          <a:p>
            <a:pPr indent="0" marL="0">
              <a:buNone/>
            </a:pPr>
            <a:r>
              <a:rPr lang="en-US" sz="1400" dirty="0">
                <a:solidFill>
                  <a:srgbClr val="132033"/>
                </a:solidFill>
                <a:latin typeface="Calibri" pitchFamily="34" charset="0"/>
                <a:ea typeface="Calibri" pitchFamily="34" charset="-122"/>
                <a:cs typeface="Calibri" pitchFamily="34" charset="-120"/>
              </a:rPr>
              <a:t>010 Locale + jam demo · 011 Pipeline CSV · 012 Dock UX · 013 Vertex + login</a:t>
            </a:r>
            <a:endParaRPr lang="en-US" sz="1400" dirty="0"/>
          </a:p>
        </p:txBody>
      </p:sp>
      <p:sp>
        <p:nvSpPr>
          <p:cNvPr id="13" name="Text 9"/>
          <p:cNvSpPr/>
          <p:nvPr/>
        </p:nvSpPr>
        <p:spPr>
          <a:xfrm>
            <a:off x="457200" y="4114800"/>
            <a:ext cx="8229600" cy="274320"/>
          </a:xfrm>
          <a:prstGeom prst="rect">
            <a:avLst/>
          </a:prstGeom>
          <a:noFill/>
          <a:ln/>
        </p:spPr>
        <p:txBody>
          <a:bodyPr wrap="square" rtlCol="0" anchor="ctr"/>
          <a:lstStyle/>
          <a:p>
            <a:pPr indent="0" marL="0">
              <a:buNone/>
            </a:pPr>
            <a:r>
              <a:rPr lang="en-US" sz="1200" dirty="0">
                <a:solidFill>
                  <a:srgbClr val="1E4D8C"/>
                </a:solidFill>
                <a:latin typeface="Calibri" pitchFamily="34" charset="0"/>
                <a:ea typeface="Calibri" pitchFamily="34" charset="-122"/>
                <a:cs typeface="Calibri" pitchFamily="34" charset="-120"/>
              </a:rPr>
              <a:t>Regenerasi: specs/regeneration/prompts/regenerate-full-app.md</a:t>
            </a:r>
            <a:endParaRPr lang="en-US" sz="1200" dirty="0"/>
          </a:p>
        </p:txBody>
      </p:sp>
      <p:sp>
        <p:nvSpPr>
          <p:cNvPr id="14" name="Shape 10"/>
          <p:cNvSpPr/>
          <p:nvPr/>
        </p:nvSpPr>
        <p:spPr>
          <a:xfrm>
            <a:off x="0" y="4800600"/>
            <a:ext cx="9144000" cy="342900"/>
          </a:xfrm>
          <a:prstGeom prst="rect">
            <a:avLst/>
          </a:prstGeom>
          <a:solidFill>
            <a:srgbClr val="132033"/>
          </a:solidFill>
          <a:ln w="12700">
            <a:solidFill>
              <a:srgbClr val="132033"/>
            </a:solidFill>
            <a:prstDash val="solid"/>
          </a:ln>
        </p:spPr>
      </p:sp>
      <p:sp>
        <p:nvSpPr>
          <p:cNvPr id="15" name="Text 11"/>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16" name="Text 12"/>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7 / 18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Batas keras (jangan dilanggar)</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Ini yang mencegah “AI vibes” merusak sistem</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Text 3"/>
          <p:cNvSpPr/>
          <p:nvPr/>
        </p:nvSpPr>
        <p:spPr>
          <a:xfrm>
            <a:off x="457200" y="1188720"/>
            <a:ext cx="8229600" cy="3108960"/>
          </a:xfrm>
          <a:prstGeom prst="rect">
            <a:avLst/>
          </a:prstGeom>
          <a:noFill/>
          <a:ln/>
        </p:spPr>
        <p:txBody>
          <a:bodyPr wrap="square" rtlCol="0" anchor="ctr"/>
          <a:lstStyle/>
          <a:p>
            <a:pPr marL="342900" indent="-342900">
              <a:buSzPct val="100000"/>
              <a:buChar char="•"/>
            </a:pPr>
            <a:r>
              <a:rPr lang="en-US" sz="1600" dirty="0">
                <a:solidFill>
                  <a:srgbClr val="132033"/>
                </a:solidFill>
                <a:latin typeface="Calibri" pitchFamily="34" charset="0"/>
                <a:ea typeface="Calibri" pitchFamily="34" charset="-122"/>
                <a:cs typeface="Calibri" pitchFamily="34" charset="-120"/>
              </a:rPr>
              <a:t>LLM tidak menulis/menjalankan SQL — hanya QueryPlan → validate → compile → execute</a:t>
            </a:r>
            <a:endParaRPr lang="en-US" sz="1600" dirty="0"/>
          </a:p>
          <a:p>
            <a:pPr marL="342900" indent="-342900">
              <a:buSzPct val="100000"/>
              <a:buChar char="•"/>
            </a:pPr>
            <a:r>
              <a:rPr lang="en-US" sz="1600" dirty="0">
                <a:solidFill>
                  <a:srgbClr val="132033"/>
                </a:solidFill>
                <a:latin typeface="Calibri" pitchFamily="34" charset="0"/>
                <a:ea typeface="Calibri" pitchFamily="34" charset="-122"/>
                <a:cs typeface="Calibri" pitchFamily="34" charset="-120"/>
              </a:rPr>
              <a:t>Dasbor = JSON DashboardSpec, bukan React yang digenerate</a:t>
            </a:r>
            <a:endParaRPr lang="en-US" sz="1600" dirty="0"/>
          </a:p>
          <a:p>
            <a:pPr marL="342900" indent="-342900">
              <a:buSzPct val="100000"/>
              <a:buChar char="•"/>
            </a:pPr>
            <a:r>
              <a:rPr lang="en-US" sz="1600" dirty="0">
                <a:solidFill>
                  <a:srgbClr val="132033"/>
                </a:solidFill>
                <a:latin typeface="Calibri" pitchFamily="34" charset="0"/>
                <a:ea typeface="Calibri" pitchFamily="34" charset="-122"/>
                <a:cs typeface="Calibri" pitchFamily="34" charset="-120"/>
              </a:rPr>
              <a:t>Monolith Next.js + SQLite</a:t>
            </a:r>
            <a:endParaRPr lang="en-US" sz="1600" dirty="0"/>
          </a:p>
          <a:p>
            <a:pPr marL="342900" indent="-342900">
              <a:buSzPct val="100000"/>
              <a:buChar char="•"/>
            </a:pPr>
            <a:r>
              <a:rPr lang="en-US" sz="1600" dirty="0">
                <a:solidFill>
                  <a:srgbClr val="132033"/>
                </a:solidFill>
                <a:latin typeface="Calibri" pitchFamily="34" charset="0"/>
                <a:ea typeface="Calibri" pitchFamily="34" charset="-122"/>
                <a:cs typeface="Calibri" pitchFamily="34" charset="-120"/>
              </a:rPr>
              <a:t>company_id diinjeksikan dari header x-company-id</a:t>
            </a:r>
            <a:endParaRPr lang="en-US" sz="1600" dirty="0"/>
          </a:p>
          <a:p>
            <a:pPr marL="342900" indent="-342900">
              <a:buSzPct val="100000"/>
              <a:buChar char="•"/>
            </a:pPr>
            <a:r>
              <a:rPr lang="en-US" sz="1600" dirty="0">
                <a:solidFill>
                  <a:srgbClr val="132033"/>
                </a:solidFill>
                <a:latin typeface="Calibri" pitchFamily="34" charset="0"/>
                <a:ea typeface="Calibri" pitchFamily="34" charset="-122"/>
                <a:cs typeface="Calibri" pitchFamily="34" charset="-120"/>
              </a:rPr>
              <a:t>Jam demo tetap 2026-09-05 (Sumatera Agustus tetap valid)</a:t>
            </a:r>
            <a:endParaRPr lang="en-US" sz="1600" dirty="0"/>
          </a:p>
        </p:txBody>
      </p:sp>
      <p:sp>
        <p:nvSpPr>
          <p:cNvPr id="8" name="Shape 4"/>
          <p:cNvSpPr/>
          <p:nvPr/>
        </p:nvSpPr>
        <p:spPr>
          <a:xfrm>
            <a:off x="0" y="4800600"/>
            <a:ext cx="9144000" cy="342900"/>
          </a:xfrm>
          <a:prstGeom prst="rect">
            <a:avLst/>
          </a:prstGeom>
          <a:solidFill>
            <a:srgbClr val="132033"/>
          </a:solidFill>
          <a:ln w="12700">
            <a:solidFill>
              <a:srgbClr val="132033"/>
            </a:solidFill>
            <a:prstDash val="solid"/>
          </a:ln>
        </p:spPr>
      </p:sp>
      <p:sp>
        <p:nvSpPr>
          <p:cNvPr id="9" name="Text 5"/>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10" name="Text 6"/>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8 / 18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Layar: Beranda</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http://localhost:3000/</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Shape 3"/>
          <p:cNvSpPr/>
          <p:nvPr/>
        </p:nvSpPr>
        <p:spPr>
          <a:xfrm>
            <a:off x="365760" y="1097280"/>
            <a:ext cx="4114800" cy="3200400"/>
          </a:xfrm>
          <a:prstGeom prst="roundRect">
            <a:avLst>
              <a:gd name="adj" fmla="val 2286"/>
            </a:avLst>
          </a:prstGeom>
          <a:solidFill>
            <a:srgbClr val="FFFFFF"/>
          </a:solidFill>
          <a:ln w="12700">
            <a:solidFill>
              <a:srgbClr val="D4CBBC"/>
            </a:solidFill>
            <a:prstDash val="solid"/>
          </a:ln>
        </p:spPr>
      </p:sp>
      <p:sp>
        <p:nvSpPr>
          <p:cNvPr id="8" name="Shape 4"/>
          <p:cNvSpPr/>
          <p:nvPr/>
        </p:nvSpPr>
        <p:spPr>
          <a:xfrm>
            <a:off x="365760" y="1097280"/>
            <a:ext cx="4114800" cy="292608"/>
          </a:xfrm>
          <a:prstGeom prst="rect">
            <a:avLst/>
          </a:prstGeom>
          <a:solidFill>
            <a:srgbClr val="1E4D8C"/>
          </a:solidFill>
          <a:ln/>
        </p:spPr>
      </p:sp>
      <p:sp>
        <p:nvSpPr>
          <p:cNvPr id="9" name="Text 5"/>
          <p:cNvSpPr/>
          <p:nvPr/>
        </p:nvSpPr>
        <p:spPr>
          <a:xfrm>
            <a:off x="457200" y="1133856"/>
            <a:ext cx="39319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Yang terlihat</a:t>
            </a:r>
            <a:endParaRPr lang="en-US" sz="1100" dirty="0"/>
          </a:p>
        </p:txBody>
      </p:sp>
      <p:sp>
        <p:nvSpPr>
          <p:cNvPr id="10" name="Text 6"/>
          <p:cNvSpPr/>
          <p:nvPr/>
        </p:nvSpPr>
        <p:spPr>
          <a:xfrm>
            <a:off x="475488" y="1481328"/>
            <a:ext cx="3895344" cy="2724912"/>
          </a:xfrm>
          <a:prstGeom prst="rect">
            <a:avLst/>
          </a:prstGeom>
          <a:noFill/>
          <a:ln/>
        </p:spPr>
        <p:txBody>
          <a:bodyPr wrap="square" rtlCol="0" anchor="t"/>
          <a:lstStyle/>
          <a:p>
            <a:pPr indent="0" marL="0">
              <a:buNone/>
            </a:pPr>
            <a:r>
              <a:rPr lang="en-US" sz="1100" dirty="0">
                <a:solidFill>
                  <a:srgbClr val="132033"/>
                </a:solidFill>
                <a:latin typeface="Calibri" pitchFamily="34" charset="0"/>
                <a:ea typeface="Calibri" pitchFamily="34" charset="-122"/>
                <a:cs typeface="Calibri" pitchFamily="34" charset="-120"/>
              </a:rPr>
              <a:t>Judul “SDD Analitik Kopilot”, CTA Buka Kopilot, 6 kartu alur SDD (Tanya→Simpan) dalam Bahasa Indonesia, nama perusahaan aktif di narasi.</a:t>
            </a:r>
            <a:endParaRPr lang="en-US" sz="1100" dirty="0"/>
          </a:p>
        </p:txBody>
      </p:sp>
      <p:sp>
        <p:nvSpPr>
          <p:cNvPr id="11" name="Shape 7"/>
          <p:cNvSpPr/>
          <p:nvPr/>
        </p:nvSpPr>
        <p:spPr>
          <a:xfrm>
            <a:off x="4663440" y="1097280"/>
            <a:ext cx="4114800" cy="3200400"/>
          </a:xfrm>
          <a:prstGeom prst="roundRect">
            <a:avLst>
              <a:gd name="adj" fmla="val 2286"/>
            </a:avLst>
          </a:prstGeom>
          <a:solidFill>
            <a:srgbClr val="FFFFFF"/>
          </a:solidFill>
          <a:ln w="12700">
            <a:solidFill>
              <a:srgbClr val="D4CBBC"/>
            </a:solidFill>
            <a:prstDash val="solid"/>
          </a:ln>
        </p:spPr>
      </p:sp>
      <p:sp>
        <p:nvSpPr>
          <p:cNvPr id="12" name="Shape 8"/>
          <p:cNvSpPr/>
          <p:nvPr/>
        </p:nvSpPr>
        <p:spPr>
          <a:xfrm>
            <a:off x="4663440" y="1097280"/>
            <a:ext cx="4114800" cy="292608"/>
          </a:xfrm>
          <a:prstGeom prst="rect">
            <a:avLst/>
          </a:prstGeom>
          <a:solidFill>
            <a:srgbClr val="1E4D8C"/>
          </a:solidFill>
          <a:ln/>
        </p:spPr>
      </p:sp>
      <p:sp>
        <p:nvSpPr>
          <p:cNvPr id="13" name="Text 9"/>
          <p:cNvSpPr/>
          <p:nvPr/>
        </p:nvSpPr>
        <p:spPr>
          <a:xfrm>
            <a:off x="4754880" y="1133856"/>
            <a:ext cx="39319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Hasil yang diharapkan</a:t>
            </a:r>
            <a:endParaRPr lang="en-US" sz="1100" dirty="0"/>
          </a:p>
        </p:txBody>
      </p:sp>
      <p:sp>
        <p:nvSpPr>
          <p:cNvPr id="14" name="Text 10"/>
          <p:cNvSpPr/>
          <p:nvPr/>
        </p:nvSpPr>
        <p:spPr>
          <a:xfrm>
            <a:off x="4773168" y="1481328"/>
            <a:ext cx="3895344" cy="2724912"/>
          </a:xfrm>
          <a:prstGeom prst="rect">
            <a:avLst/>
          </a:prstGeom>
          <a:noFill/>
          <a:ln/>
        </p:spPr>
        <p:txBody>
          <a:bodyPr wrap="square" rtlCol="0" anchor="t"/>
          <a:lstStyle/>
          <a:p>
            <a:pPr indent="0" marL="0">
              <a:buNone/>
            </a:pPr>
            <a:r>
              <a:rPr lang="en-US" sz="1100" dirty="0">
                <a:solidFill>
                  <a:srgbClr val="132033"/>
                </a:solidFill>
                <a:latin typeface="Calibri" pitchFamily="34" charset="0"/>
                <a:ea typeface="Calibri" pitchFamily="34" charset="-122"/>
                <a:cs typeface="Calibri" pitchFamily="34" charset="-120"/>
              </a:rPr>
              <a:t>Klik kartu → gelembung kopilot kanan-bawah terbuka + prompt terkirim otomatis. Tidak perlu navigasi ke halaman chat penuh.</a:t>
            </a:r>
            <a:endParaRPr lang="en-US" sz="1100" dirty="0"/>
          </a:p>
        </p:txBody>
      </p:sp>
      <p:sp>
        <p:nvSpPr>
          <p:cNvPr id="15" name="Shape 11"/>
          <p:cNvSpPr/>
          <p:nvPr/>
        </p:nvSpPr>
        <p:spPr>
          <a:xfrm>
            <a:off x="0" y="4800600"/>
            <a:ext cx="9144000" cy="342900"/>
          </a:xfrm>
          <a:prstGeom prst="rect">
            <a:avLst/>
          </a:prstGeom>
          <a:solidFill>
            <a:srgbClr val="132033"/>
          </a:solidFill>
          <a:ln w="12700">
            <a:solidFill>
              <a:srgbClr val="132033"/>
            </a:solidFill>
            <a:prstDash val="solid"/>
          </a:ln>
        </p:spPr>
      </p:sp>
      <p:sp>
        <p:nvSpPr>
          <p:cNvPr id="16" name="Text 12"/>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17" name="Text 13"/>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9 / 18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Layar: Pemilih perusahaan</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Header kanan-atas</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Shape 3"/>
          <p:cNvSpPr/>
          <p:nvPr/>
        </p:nvSpPr>
        <p:spPr>
          <a:xfrm>
            <a:off x="365760" y="1097280"/>
            <a:ext cx="4114800" cy="3200400"/>
          </a:xfrm>
          <a:prstGeom prst="roundRect">
            <a:avLst>
              <a:gd name="adj" fmla="val 2286"/>
            </a:avLst>
          </a:prstGeom>
          <a:solidFill>
            <a:srgbClr val="FFFFFF"/>
          </a:solidFill>
          <a:ln w="12700">
            <a:solidFill>
              <a:srgbClr val="D4CBBC"/>
            </a:solidFill>
            <a:prstDash val="solid"/>
          </a:ln>
        </p:spPr>
      </p:sp>
      <p:sp>
        <p:nvSpPr>
          <p:cNvPr id="8" name="Shape 4"/>
          <p:cNvSpPr/>
          <p:nvPr/>
        </p:nvSpPr>
        <p:spPr>
          <a:xfrm>
            <a:off x="365760" y="1097280"/>
            <a:ext cx="4114800" cy="292608"/>
          </a:xfrm>
          <a:prstGeom prst="rect">
            <a:avLst/>
          </a:prstGeom>
          <a:solidFill>
            <a:srgbClr val="1E4D8C"/>
          </a:solidFill>
          <a:ln/>
        </p:spPr>
      </p:sp>
      <p:sp>
        <p:nvSpPr>
          <p:cNvPr id="9" name="Text 5"/>
          <p:cNvSpPr/>
          <p:nvPr/>
        </p:nvSpPr>
        <p:spPr>
          <a:xfrm>
            <a:off x="457200" y="1133856"/>
            <a:ext cx="39319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Yang terlihat</a:t>
            </a:r>
            <a:endParaRPr lang="en-US" sz="1100" dirty="0"/>
          </a:p>
        </p:txBody>
      </p:sp>
      <p:sp>
        <p:nvSpPr>
          <p:cNvPr id="10" name="Text 6"/>
          <p:cNvSpPr/>
          <p:nvPr/>
        </p:nvSpPr>
        <p:spPr>
          <a:xfrm>
            <a:off x="475488" y="1481328"/>
            <a:ext cx="3895344" cy="2724912"/>
          </a:xfrm>
          <a:prstGeom prst="rect">
            <a:avLst/>
          </a:prstGeom>
          <a:noFill/>
          <a:ln/>
        </p:spPr>
        <p:txBody>
          <a:bodyPr wrap="square" rtlCol="0" anchor="t"/>
          <a:lstStyle/>
          <a:p>
            <a:pPr indent="0" marL="0">
              <a:buNone/>
            </a:pPr>
            <a:r>
              <a:rPr lang="en-US" sz="1100" dirty="0">
                <a:solidFill>
                  <a:srgbClr val="132033"/>
                </a:solidFill>
                <a:latin typeface="Calibri" pitchFamily="34" charset="0"/>
                <a:ea typeface="Calibri" pitchFamily="34" charset="-122"/>
                <a:cs typeface="Calibri" pitchFamily="34" charset="-120"/>
              </a:rPr>
              <a:t>Kontrol menampilkan nama/sektor/tagline + logo SVG. Modal terpusat: TokoRaya, GoCepat, BukaDagang, BeliNusa, JelajahID, AngkutPrima.</a:t>
            </a:r>
            <a:endParaRPr lang="en-US" sz="1100" dirty="0"/>
          </a:p>
        </p:txBody>
      </p:sp>
      <p:sp>
        <p:nvSpPr>
          <p:cNvPr id="11" name="Shape 7"/>
          <p:cNvSpPr/>
          <p:nvPr/>
        </p:nvSpPr>
        <p:spPr>
          <a:xfrm>
            <a:off x="4663440" y="1097280"/>
            <a:ext cx="4114800" cy="3200400"/>
          </a:xfrm>
          <a:prstGeom prst="roundRect">
            <a:avLst>
              <a:gd name="adj" fmla="val 2286"/>
            </a:avLst>
          </a:prstGeom>
          <a:solidFill>
            <a:srgbClr val="FFFFFF"/>
          </a:solidFill>
          <a:ln w="12700">
            <a:solidFill>
              <a:srgbClr val="D4CBBC"/>
            </a:solidFill>
            <a:prstDash val="solid"/>
          </a:ln>
        </p:spPr>
      </p:sp>
      <p:sp>
        <p:nvSpPr>
          <p:cNvPr id="12" name="Shape 8"/>
          <p:cNvSpPr/>
          <p:nvPr/>
        </p:nvSpPr>
        <p:spPr>
          <a:xfrm>
            <a:off x="4663440" y="1097280"/>
            <a:ext cx="4114800" cy="292608"/>
          </a:xfrm>
          <a:prstGeom prst="rect">
            <a:avLst/>
          </a:prstGeom>
          <a:solidFill>
            <a:srgbClr val="1E4D8C"/>
          </a:solidFill>
          <a:ln/>
        </p:spPr>
      </p:sp>
      <p:sp>
        <p:nvSpPr>
          <p:cNvPr id="13" name="Text 9"/>
          <p:cNvSpPr/>
          <p:nvPr/>
        </p:nvSpPr>
        <p:spPr>
          <a:xfrm>
            <a:off x="4754880" y="1133856"/>
            <a:ext cx="39319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Hasil yang diharapkan</a:t>
            </a:r>
            <a:endParaRPr lang="en-US" sz="1100" dirty="0"/>
          </a:p>
        </p:txBody>
      </p:sp>
      <p:sp>
        <p:nvSpPr>
          <p:cNvPr id="14" name="Text 10"/>
          <p:cNvSpPr/>
          <p:nvPr/>
        </p:nvSpPr>
        <p:spPr>
          <a:xfrm>
            <a:off x="4773168" y="1481328"/>
            <a:ext cx="3895344" cy="2724912"/>
          </a:xfrm>
          <a:prstGeom prst="rect">
            <a:avLst/>
          </a:prstGeom>
          <a:noFill/>
          <a:ln/>
        </p:spPr>
        <p:txBody>
          <a:bodyPr wrap="square" rtlCol="0" anchor="t"/>
          <a:lstStyle/>
          <a:p>
            <a:pPr indent="0" marL="0">
              <a:buNone/>
            </a:pPr>
            <a:r>
              <a:rPr lang="en-US" sz="1100" dirty="0">
                <a:solidFill>
                  <a:srgbClr val="132033"/>
                </a:solidFill>
                <a:latin typeface="Calibri" pitchFamily="34" charset="0"/>
                <a:ea typeface="Calibri" pitchFamily="34" charset="-122"/>
                <a:cs typeface="Calibri" pitchFamily="34" charset="-120"/>
              </a:rPr>
              <a:t>Ganti tenant → obrolan reset; query berikutnya memfilter company_id berbeda; angka pendapatan bisa berubah.</a:t>
            </a:r>
            <a:endParaRPr lang="en-US" sz="1100" dirty="0"/>
          </a:p>
        </p:txBody>
      </p:sp>
      <p:sp>
        <p:nvSpPr>
          <p:cNvPr id="15" name="Shape 11"/>
          <p:cNvSpPr/>
          <p:nvPr/>
        </p:nvSpPr>
        <p:spPr>
          <a:xfrm>
            <a:off x="0" y="4800600"/>
            <a:ext cx="9144000" cy="342900"/>
          </a:xfrm>
          <a:prstGeom prst="rect">
            <a:avLst/>
          </a:prstGeom>
          <a:solidFill>
            <a:srgbClr val="132033"/>
          </a:solidFill>
          <a:ln w="12700">
            <a:solidFill>
              <a:srgbClr val="132033"/>
            </a:solidFill>
            <a:prstDash val="solid"/>
          </a:ln>
        </p:spPr>
      </p:sp>
      <p:sp>
        <p:nvSpPr>
          <p:cNvPr id="16" name="Text 12"/>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17" name="Text 13"/>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10 / 18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Layar: Kopilot — bandingkan pendapatan</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Prompt: “Bagaimana pendapatan bulan lalu dibanding bulan sebelumnya?”</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Shape 3"/>
          <p:cNvSpPr/>
          <p:nvPr/>
        </p:nvSpPr>
        <p:spPr>
          <a:xfrm>
            <a:off x="365760" y="1097280"/>
            <a:ext cx="4114800" cy="3200400"/>
          </a:xfrm>
          <a:prstGeom prst="roundRect">
            <a:avLst>
              <a:gd name="adj" fmla="val 2286"/>
            </a:avLst>
          </a:prstGeom>
          <a:solidFill>
            <a:srgbClr val="FFFFFF"/>
          </a:solidFill>
          <a:ln w="12700">
            <a:solidFill>
              <a:srgbClr val="D4CBBC"/>
            </a:solidFill>
            <a:prstDash val="solid"/>
          </a:ln>
        </p:spPr>
      </p:sp>
      <p:sp>
        <p:nvSpPr>
          <p:cNvPr id="8" name="Shape 4"/>
          <p:cNvSpPr/>
          <p:nvPr/>
        </p:nvSpPr>
        <p:spPr>
          <a:xfrm>
            <a:off x="365760" y="1097280"/>
            <a:ext cx="4114800" cy="292608"/>
          </a:xfrm>
          <a:prstGeom prst="rect">
            <a:avLst/>
          </a:prstGeom>
          <a:solidFill>
            <a:srgbClr val="1E4D8C"/>
          </a:solidFill>
          <a:ln/>
        </p:spPr>
      </p:sp>
      <p:sp>
        <p:nvSpPr>
          <p:cNvPr id="9" name="Text 5"/>
          <p:cNvSpPr/>
          <p:nvPr/>
        </p:nvSpPr>
        <p:spPr>
          <a:xfrm>
            <a:off x="457200" y="1133856"/>
            <a:ext cx="39319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Yang terlihat</a:t>
            </a:r>
            <a:endParaRPr lang="en-US" sz="1100" dirty="0"/>
          </a:p>
        </p:txBody>
      </p:sp>
      <p:sp>
        <p:nvSpPr>
          <p:cNvPr id="10" name="Text 6"/>
          <p:cNvSpPr/>
          <p:nvPr/>
        </p:nvSpPr>
        <p:spPr>
          <a:xfrm>
            <a:off x="475488" y="1481328"/>
            <a:ext cx="3895344" cy="2724912"/>
          </a:xfrm>
          <a:prstGeom prst="rect">
            <a:avLst/>
          </a:prstGeom>
          <a:noFill/>
          <a:ln/>
        </p:spPr>
        <p:txBody>
          <a:bodyPr wrap="square" rtlCol="0" anchor="t"/>
          <a:lstStyle/>
          <a:p>
            <a:pPr indent="0" marL="0">
              <a:buNone/>
            </a:pPr>
            <a:r>
              <a:rPr lang="en-US" sz="1100" dirty="0">
                <a:solidFill>
                  <a:srgbClr val="132033"/>
                </a:solidFill>
                <a:latin typeface="Calibri" pitchFamily="34" charset="0"/>
                <a:ea typeface="Calibri" pitchFamily="34" charset="-122"/>
                <a:cs typeface="Calibri" pitchFamily="34" charset="-120"/>
              </a:rPr>
              <a:t>Bubble → panel; indikator mengetik; jawaban typewriter Bahasa Indonesia; grafik KPI/tren muncul segera; chip demo di atas.</a:t>
            </a:r>
            <a:endParaRPr lang="en-US" sz="1100" dirty="0"/>
          </a:p>
        </p:txBody>
      </p:sp>
      <p:sp>
        <p:nvSpPr>
          <p:cNvPr id="11" name="Shape 7"/>
          <p:cNvSpPr/>
          <p:nvPr/>
        </p:nvSpPr>
        <p:spPr>
          <a:xfrm>
            <a:off x="4663440" y="1097280"/>
            <a:ext cx="4114800" cy="3200400"/>
          </a:xfrm>
          <a:prstGeom prst="roundRect">
            <a:avLst>
              <a:gd name="adj" fmla="val 2286"/>
            </a:avLst>
          </a:prstGeom>
          <a:solidFill>
            <a:srgbClr val="FFFFFF"/>
          </a:solidFill>
          <a:ln w="12700">
            <a:solidFill>
              <a:srgbClr val="D4CBBC"/>
            </a:solidFill>
            <a:prstDash val="solid"/>
          </a:ln>
        </p:spPr>
      </p:sp>
      <p:sp>
        <p:nvSpPr>
          <p:cNvPr id="12" name="Shape 8"/>
          <p:cNvSpPr/>
          <p:nvPr/>
        </p:nvSpPr>
        <p:spPr>
          <a:xfrm>
            <a:off x="4663440" y="1097280"/>
            <a:ext cx="4114800" cy="292608"/>
          </a:xfrm>
          <a:prstGeom prst="rect">
            <a:avLst/>
          </a:prstGeom>
          <a:solidFill>
            <a:srgbClr val="1E4D8C"/>
          </a:solidFill>
          <a:ln/>
        </p:spPr>
      </p:sp>
      <p:sp>
        <p:nvSpPr>
          <p:cNvPr id="13" name="Text 9"/>
          <p:cNvSpPr/>
          <p:nvPr/>
        </p:nvSpPr>
        <p:spPr>
          <a:xfrm>
            <a:off x="4754880" y="1133856"/>
            <a:ext cx="39319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Hasil yang diharapkan</a:t>
            </a:r>
            <a:endParaRPr lang="en-US" sz="1100" dirty="0"/>
          </a:p>
        </p:txBody>
      </p:sp>
      <p:sp>
        <p:nvSpPr>
          <p:cNvPr id="14" name="Text 10"/>
          <p:cNvSpPr/>
          <p:nvPr/>
        </p:nvSpPr>
        <p:spPr>
          <a:xfrm>
            <a:off x="4773168" y="1481328"/>
            <a:ext cx="3895344" cy="2724912"/>
          </a:xfrm>
          <a:prstGeom prst="rect">
            <a:avLst/>
          </a:prstGeom>
          <a:noFill/>
          <a:ln/>
        </p:spPr>
        <p:txBody>
          <a:bodyPr wrap="square" rtlCol="0" anchor="t"/>
          <a:lstStyle/>
          <a:p>
            <a:pPr indent="0" marL="0">
              <a:buNone/>
            </a:pPr>
            <a:r>
              <a:rPr lang="en-US" sz="1100" dirty="0">
                <a:solidFill>
                  <a:srgbClr val="132033"/>
                </a:solidFill>
                <a:latin typeface="Calibri" pitchFamily="34" charset="0"/>
                <a:ea typeface="Calibri" pitchFamily="34" charset="-122"/>
                <a:cs typeface="Calibri" pitchFamily="34" charset="-120"/>
              </a:rPr>
              <a:t>QueryPlan metric=revenue, time=last_month, comparison=previous_period. Bukti SQL mengandung company_id. Delta % vs Juli 2026.</a:t>
            </a:r>
            <a:endParaRPr lang="en-US" sz="1100" dirty="0"/>
          </a:p>
        </p:txBody>
      </p:sp>
      <p:sp>
        <p:nvSpPr>
          <p:cNvPr id="15" name="Shape 11"/>
          <p:cNvSpPr/>
          <p:nvPr/>
        </p:nvSpPr>
        <p:spPr>
          <a:xfrm>
            <a:off x="0" y="4800600"/>
            <a:ext cx="9144000" cy="342900"/>
          </a:xfrm>
          <a:prstGeom prst="rect">
            <a:avLst/>
          </a:prstGeom>
          <a:solidFill>
            <a:srgbClr val="132033"/>
          </a:solidFill>
          <a:ln w="12700">
            <a:solidFill>
              <a:srgbClr val="132033"/>
            </a:solidFill>
            <a:prstDash val="solid"/>
          </a:ln>
        </p:spPr>
      </p:sp>
      <p:sp>
        <p:nvSpPr>
          <p:cNvPr id="16" name="Text 12"/>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17" name="Text 13"/>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11 / 18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Layar: Kopilot — kenapa Sumatera turun</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Prompt: “Kenapa Sumatera turun?”</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Shape 3"/>
          <p:cNvSpPr/>
          <p:nvPr/>
        </p:nvSpPr>
        <p:spPr>
          <a:xfrm>
            <a:off x="365760" y="1097280"/>
            <a:ext cx="4114800" cy="3200400"/>
          </a:xfrm>
          <a:prstGeom prst="roundRect">
            <a:avLst>
              <a:gd name="adj" fmla="val 2286"/>
            </a:avLst>
          </a:prstGeom>
          <a:solidFill>
            <a:srgbClr val="FFFFFF"/>
          </a:solidFill>
          <a:ln w="12700">
            <a:solidFill>
              <a:srgbClr val="D4CBBC"/>
            </a:solidFill>
            <a:prstDash val="solid"/>
          </a:ln>
        </p:spPr>
      </p:sp>
      <p:sp>
        <p:nvSpPr>
          <p:cNvPr id="8" name="Shape 4"/>
          <p:cNvSpPr/>
          <p:nvPr/>
        </p:nvSpPr>
        <p:spPr>
          <a:xfrm>
            <a:off x="365760" y="1097280"/>
            <a:ext cx="4114800" cy="292608"/>
          </a:xfrm>
          <a:prstGeom prst="rect">
            <a:avLst/>
          </a:prstGeom>
          <a:solidFill>
            <a:srgbClr val="1E4D8C"/>
          </a:solidFill>
          <a:ln/>
        </p:spPr>
      </p:sp>
      <p:sp>
        <p:nvSpPr>
          <p:cNvPr id="9" name="Text 5"/>
          <p:cNvSpPr/>
          <p:nvPr/>
        </p:nvSpPr>
        <p:spPr>
          <a:xfrm>
            <a:off x="457200" y="1133856"/>
            <a:ext cx="39319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Yang terlihat</a:t>
            </a:r>
            <a:endParaRPr lang="en-US" sz="1100" dirty="0"/>
          </a:p>
        </p:txBody>
      </p:sp>
      <p:sp>
        <p:nvSpPr>
          <p:cNvPr id="10" name="Text 6"/>
          <p:cNvSpPr/>
          <p:nvPr/>
        </p:nvSpPr>
        <p:spPr>
          <a:xfrm>
            <a:off x="475488" y="1481328"/>
            <a:ext cx="3895344" cy="2724912"/>
          </a:xfrm>
          <a:prstGeom prst="rect">
            <a:avLst/>
          </a:prstGeom>
          <a:noFill/>
          <a:ln/>
        </p:spPr>
        <p:txBody>
          <a:bodyPr wrap="square" rtlCol="0" anchor="t"/>
          <a:lstStyle/>
          <a:p>
            <a:pPr indent="0" marL="0">
              <a:buNone/>
            </a:pPr>
            <a:r>
              <a:rPr lang="en-US" sz="1100" dirty="0">
                <a:solidFill>
                  <a:srgbClr val="132033"/>
                </a:solidFill>
                <a:latin typeface="Calibri" pitchFamily="34" charset="0"/>
                <a:ea typeface="Calibri" pitchFamily="34" charset="-122"/>
                <a:cs typeface="Calibri" pitchFamily="34" charset="-120"/>
              </a:rPr>
              <a:t>Narasi diagnostik fokus Sumatera; breakdown wilayah/segmen; pola demo penurunan Agustus terlihat di angka/grafik.</a:t>
            </a:r>
            <a:endParaRPr lang="en-US" sz="1100" dirty="0"/>
          </a:p>
        </p:txBody>
      </p:sp>
      <p:sp>
        <p:nvSpPr>
          <p:cNvPr id="11" name="Shape 7"/>
          <p:cNvSpPr/>
          <p:nvPr/>
        </p:nvSpPr>
        <p:spPr>
          <a:xfrm>
            <a:off x="4663440" y="1097280"/>
            <a:ext cx="4114800" cy="3200400"/>
          </a:xfrm>
          <a:prstGeom prst="roundRect">
            <a:avLst>
              <a:gd name="adj" fmla="val 2286"/>
            </a:avLst>
          </a:prstGeom>
          <a:solidFill>
            <a:srgbClr val="FFFFFF"/>
          </a:solidFill>
          <a:ln w="12700">
            <a:solidFill>
              <a:srgbClr val="D4CBBC"/>
            </a:solidFill>
            <a:prstDash val="solid"/>
          </a:ln>
        </p:spPr>
      </p:sp>
      <p:sp>
        <p:nvSpPr>
          <p:cNvPr id="12" name="Shape 8"/>
          <p:cNvSpPr/>
          <p:nvPr/>
        </p:nvSpPr>
        <p:spPr>
          <a:xfrm>
            <a:off x="4663440" y="1097280"/>
            <a:ext cx="4114800" cy="292608"/>
          </a:xfrm>
          <a:prstGeom prst="rect">
            <a:avLst/>
          </a:prstGeom>
          <a:solidFill>
            <a:srgbClr val="1E4D8C"/>
          </a:solidFill>
          <a:ln/>
        </p:spPr>
      </p:sp>
      <p:sp>
        <p:nvSpPr>
          <p:cNvPr id="13" name="Text 9"/>
          <p:cNvSpPr/>
          <p:nvPr/>
        </p:nvSpPr>
        <p:spPr>
          <a:xfrm>
            <a:off x="4754880" y="1133856"/>
            <a:ext cx="39319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Hasil yang diharapkan</a:t>
            </a:r>
            <a:endParaRPr lang="en-US" sz="1100" dirty="0"/>
          </a:p>
        </p:txBody>
      </p:sp>
      <p:sp>
        <p:nvSpPr>
          <p:cNvPr id="14" name="Text 10"/>
          <p:cNvSpPr/>
          <p:nvPr/>
        </p:nvSpPr>
        <p:spPr>
          <a:xfrm>
            <a:off x="4773168" y="1481328"/>
            <a:ext cx="3895344" cy="2724912"/>
          </a:xfrm>
          <a:prstGeom prst="rect">
            <a:avLst/>
          </a:prstGeom>
          <a:noFill/>
          <a:ln/>
        </p:spPr>
        <p:txBody>
          <a:bodyPr wrap="square" rtlCol="0" anchor="t"/>
          <a:lstStyle/>
          <a:p>
            <a:pPr indent="0" marL="0">
              <a:buNone/>
            </a:pPr>
            <a:r>
              <a:rPr lang="en-US" sz="1100" dirty="0">
                <a:solidFill>
                  <a:srgbClr val="132033"/>
                </a:solidFill>
                <a:latin typeface="Calibri" pitchFamily="34" charset="0"/>
                <a:ea typeface="Calibri" pitchFamily="34" charset="-122"/>
                <a:cs typeface="Calibri" pitchFamily="34" charset="-120"/>
              </a:rPr>
              <a:t>Filter/rincian region=Sumatera; jejak berisi execute_sqlite + breakdown. Bukan “APAC”.</a:t>
            </a:r>
            <a:endParaRPr lang="en-US" sz="1100" dirty="0"/>
          </a:p>
        </p:txBody>
      </p:sp>
      <p:sp>
        <p:nvSpPr>
          <p:cNvPr id="15" name="Shape 11"/>
          <p:cNvSpPr/>
          <p:nvPr/>
        </p:nvSpPr>
        <p:spPr>
          <a:xfrm>
            <a:off x="0" y="4800600"/>
            <a:ext cx="9144000" cy="342900"/>
          </a:xfrm>
          <a:prstGeom prst="rect">
            <a:avLst/>
          </a:prstGeom>
          <a:solidFill>
            <a:srgbClr val="132033"/>
          </a:solidFill>
          <a:ln w="12700">
            <a:solidFill>
              <a:srgbClr val="132033"/>
            </a:solidFill>
            <a:prstDash val="solid"/>
          </a:ln>
        </p:spPr>
      </p:sp>
      <p:sp>
        <p:nvSpPr>
          <p:cNvPr id="16" name="Text 12"/>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17" name="Text 13"/>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12 / 18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Layar: Bukti &amp; QueryPlan</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Di dalam pesan asisten (details)</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Shape 3"/>
          <p:cNvSpPr/>
          <p:nvPr/>
        </p:nvSpPr>
        <p:spPr>
          <a:xfrm>
            <a:off x="365760" y="1097280"/>
            <a:ext cx="4114800" cy="3200400"/>
          </a:xfrm>
          <a:prstGeom prst="roundRect">
            <a:avLst>
              <a:gd name="adj" fmla="val 2286"/>
            </a:avLst>
          </a:prstGeom>
          <a:solidFill>
            <a:srgbClr val="FFFFFF"/>
          </a:solidFill>
          <a:ln w="12700">
            <a:solidFill>
              <a:srgbClr val="D4CBBC"/>
            </a:solidFill>
            <a:prstDash val="solid"/>
          </a:ln>
        </p:spPr>
      </p:sp>
      <p:sp>
        <p:nvSpPr>
          <p:cNvPr id="8" name="Shape 4"/>
          <p:cNvSpPr/>
          <p:nvPr/>
        </p:nvSpPr>
        <p:spPr>
          <a:xfrm>
            <a:off x="365760" y="1097280"/>
            <a:ext cx="4114800" cy="292608"/>
          </a:xfrm>
          <a:prstGeom prst="rect">
            <a:avLst/>
          </a:prstGeom>
          <a:solidFill>
            <a:srgbClr val="1E4D8C"/>
          </a:solidFill>
          <a:ln/>
        </p:spPr>
      </p:sp>
      <p:sp>
        <p:nvSpPr>
          <p:cNvPr id="9" name="Text 5"/>
          <p:cNvSpPr/>
          <p:nvPr/>
        </p:nvSpPr>
        <p:spPr>
          <a:xfrm>
            <a:off x="457200" y="1133856"/>
            <a:ext cx="39319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Yang terlihat</a:t>
            </a:r>
            <a:endParaRPr lang="en-US" sz="1100" dirty="0"/>
          </a:p>
        </p:txBody>
      </p:sp>
      <p:sp>
        <p:nvSpPr>
          <p:cNvPr id="10" name="Text 6"/>
          <p:cNvSpPr/>
          <p:nvPr/>
        </p:nvSpPr>
        <p:spPr>
          <a:xfrm>
            <a:off x="475488" y="1481328"/>
            <a:ext cx="3895344" cy="2724912"/>
          </a:xfrm>
          <a:prstGeom prst="rect">
            <a:avLst/>
          </a:prstGeom>
          <a:noFill/>
          <a:ln/>
        </p:spPr>
        <p:txBody>
          <a:bodyPr wrap="square" rtlCol="0" anchor="t"/>
          <a:lstStyle/>
          <a:p>
            <a:pPr indent="0" marL="0">
              <a:buNone/>
            </a:pPr>
            <a:r>
              <a:rPr lang="en-US" sz="1100" dirty="0">
                <a:solidFill>
                  <a:srgbClr val="132033"/>
                </a:solidFill>
                <a:latin typeface="Calibri" pitchFamily="34" charset="0"/>
                <a:ea typeface="Calibri" pitchFamily="34" charset="-122"/>
                <a:cs typeface="Calibri" pitchFamily="34" charset="-120"/>
              </a:rPr>
              <a:t>Blok JSON QueryPlan; definisi metrik; jendela waktu Agustus 2026; SQL parameterised; tautan jejak run_…</a:t>
            </a:r>
            <a:endParaRPr lang="en-US" sz="1100" dirty="0"/>
          </a:p>
        </p:txBody>
      </p:sp>
      <p:sp>
        <p:nvSpPr>
          <p:cNvPr id="11" name="Shape 7"/>
          <p:cNvSpPr/>
          <p:nvPr/>
        </p:nvSpPr>
        <p:spPr>
          <a:xfrm>
            <a:off x="4663440" y="1097280"/>
            <a:ext cx="4114800" cy="3200400"/>
          </a:xfrm>
          <a:prstGeom prst="roundRect">
            <a:avLst>
              <a:gd name="adj" fmla="val 2286"/>
            </a:avLst>
          </a:prstGeom>
          <a:solidFill>
            <a:srgbClr val="FFFFFF"/>
          </a:solidFill>
          <a:ln w="12700">
            <a:solidFill>
              <a:srgbClr val="D4CBBC"/>
            </a:solidFill>
            <a:prstDash val="solid"/>
          </a:ln>
        </p:spPr>
      </p:sp>
      <p:sp>
        <p:nvSpPr>
          <p:cNvPr id="12" name="Shape 8"/>
          <p:cNvSpPr/>
          <p:nvPr/>
        </p:nvSpPr>
        <p:spPr>
          <a:xfrm>
            <a:off x="4663440" y="1097280"/>
            <a:ext cx="4114800" cy="292608"/>
          </a:xfrm>
          <a:prstGeom prst="rect">
            <a:avLst/>
          </a:prstGeom>
          <a:solidFill>
            <a:srgbClr val="1E4D8C"/>
          </a:solidFill>
          <a:ln/>
        </p:spPr>
      </p:sp>
      <p:sp>
        <p:nvSpPr>
          <p:cNvPr id="13" name="Text 9"/>
          <p:cNvSpPr/>
          <p:nvPr/>
        </p:nvSpPr>
        <p:spPr>
          <a:xfrm>
            <a:off x="4754880" y="1133856"/>
            <a:ext cx="39319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Hasil yang diharapkan</a:t>
            </a:r>
            <a:endParaRPr lang="en-US" sz="1100" dirty="0"/>
          </a:p>
        </p:txBody>
      </p:sp>
      <p:sp>
        <p:nvSpPr>
          <p:cNvPr id="14" name="Text 10"/>
          <p:cNvSpPr/>
          <p:nvPr/>
        </p:nvSpPr>
        <p:spPr>
          <a:xfrm>
            <a:off x="4773168" y="1481328"/>
            <a:ext cx="3895344" cy="2724912"/>
          </a:xfrm>
          <a:prstGeom prst="rect">
            <a:avLst/>
          </a:prstGeom>
          <a:noFill/>
          <a:ln/>
        </p:spPr>
        <p:txBody>
          <a:bodyPr wrap="square" rtlCol="0" anchor="t"/>
          <a:lstStyle/>
          <a:p>
            <a:pPr indent="0" marL="0">
              <a:buNone/>
            </a:pPr>
            <a:r>
              <a:rPr lang="en-US" sz="1100" dirty="0">
                <a:solidFill>
                  <a:srgbClr val="132033"/>
                </a:solidFill>
                <a:latin typeface="Calibri" pitchFamily="34" charset="0"/>
                <a:ea typeface="Calibri" pitchFamily="34" charset="-122"/>
                <a:cs typeface="Calibri" pitchFamily="34" charset="-120"/>
              </a:rPr>
              <a:t>Penonton memahami: agent merencanakan, mesin yang mengeksekusi. Tidak ada SQL mentah dari model.</a:t>
            </a:r>
            <a:endParaRPr lang="en-US" sz="1100" dirty="0"/>
          </a:p>
        </p:txBody>
      </p:sp>
      <p:sp>
        <p:nvSpPr>
          <p:cNvPr id="15" name="Shape 11"/>
          <p:cNvSpPr/>
          <p:nvPr/>
        </p:nvSpPr>
        <p:spPr>
          <a:xfrm>
            <a:off x="0" y="4800600"/>
            <a:ext cx="9144000" cy="342900"/>
          </a:xfrm>
          <a:prstGeom prst="rect">
            <a:avLst/>
          </a:prstGeom>
          <a:solidFill>
            <a:srgbClr val="132033"/>
          </a:solidFill>
          <a:ln w="12700">
            <a:solidFill>
              <a:srgbClr val="132033"/>
            </a:solidFill>
            <a:prstDash val="solid"/>
          </a:ln>
        </p:spPr>
      </p:sp>
      <p:sp>
        <p:nvSpPr>
          <p:cNvPr id="16" name="Text 12"/>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17" name="Text 13"/>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13 / 18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Layar: Dasbor eksekutif</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Setelah “Tambahkan investigasi… ke dasbor”</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Shape 3"/>
          <p:cNvSpPr/>
          <p:nvPr/>
        </p:nvSpPr>
        <p:spPr>
          <a:xfrm>
            <a:off x="365760" y="1097280"/>
            <a:ext cx="4114800" cy="3200400"/>
          </a:xfrm>
          <a:prstGeom prst="roundRect">
            <a:avLst>
              <a:gd name="adj" fmla="val 2286"/>
            </a:avLst>
          </a:prstGeom>
          <a:solidFill>
            <a:srgbClr val="FFFFFF"/>
          </a:solidFill>
          <a:ln w="12700">
            <a:solidFill>
              <a:srgbClr val="D4CBBC"/>
            </a:solidFill>
            <a:prstDash val="solid"/>
          </a:ln>
        </p:spPr>
      </p:sp>
      <p:sp>
        <p:nvSpPr>
          <p:cNvPr id="8" name="Shape 4"/>
          <p:cNvSpPr/>
          <p:nvPr/>
        </p:nvSpPr>
        <p:spPr>
          <a:xfrm>
            <a:off x="365760" y="1097280"/>
            <a:ext cx="4114800" cy="292608"/>
          </a:xfrm>
          <a:prstGeom prst="rect">
            <a:avLst/>
          </a:prstGeom>
          <a:solidFill>
            <a:srgbClr val="1E4D8C"/>
          </a:solidFill>
          <a:ln/>
        </p:spPr>
      </p:sp>
      <p:sp>
        <p:nvSpPr>
          <p:cNvPr id="9" name="Text 5"/>
          <p:cNvSpPr/>
          <p:nvPr/>
        </p:nvSpPr>
        <p:spPr>
          <a:xfrm>
            <a:off x="457200" y="1133856"/>
            <a:ext cx="39319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Yang terlihat</a:t>
            </a:r>
            <a:endParaRPr lang="en-US" sz="1100" dirty="0"/>
          </a:p>
        </p:txBody>
      </p:sp>
      <p:sp>
        <p:nvSpPr>
          <p:cNvPr id="10" name="Text 6"/>
          <p:cNvSpPr/>
          <p:nvPr/>
        </p:nvSpPr>
        <p:spPr>
          <a:xfrm>
            <a:off x="475488" y="1481328"/>
            <a:ext cx="3895344" cy="2724912"/>
          </a:xfrm>
          <a:prstGeom prst="rect">
            <a:avLst/>
          </a:prstGeom>
          <a:noFill/>
          <a:ln/>
        </p:spPr>
        <p:txBody>
          <a:bodyPr wrap="square" rtlCol="0" anchor="t"/>
          <a:lstStyle/>
          <a:p>
            <a:pPr indent="0" marL="0">
              <a:buNone/>
            </a:pPr>
            <a:r>
              <a:rPr lang="en-US" sz="1100" dirty="0">
                <a:solidFill>
                  <a:srgbClr val="132033"/>
                </a:solidFill>
                <a:latin typeface="Calibri" pitchFamily="34" charset="0"/>
                <a:ea typeface="Calibri" pitchFamily="34" charset="-122"/>
                <a:cs typeface="Calibri" pitchFamily="34" charset="-120"/>
              </a:rPr>
              <a:t>Ikhtisar Eksekutif: KPI Pendapatan, tren bulanan, bar per wilayah. Setelah patch: widget wilayah → segmen.</a:t>
            </a:r>
            <a:endParaRPr lang="en-US" sz="1100" dirty="0"/>
          </a:p>
        </p:txBody>
      </p:sp>
      <p:sp>
        <p:nvSpPr>
          <p:cNvPr id="11" name="Shape 7"/>
          <p:cNvSpPr/>
          <p:nvPr/>
        </p:nvSpPr>
        <p:spPr>
          <a:xfrm>
            <a:off x="4663440" y="1097280"/>
            <a:ext cx="4114800" cy="3200400"/>
          </a:xfrm>
          <a:prstGeom prst="roundRect">
            <a:avLst>
              <a:gd name="adj" fmla="val 2286"/>
            </a:avLst>
          </a:prstGeom>
          <a:solidFill>
            <a:srgbClr val="FFFFFF"/>
          </a:solidFill>
          <a:ln w="12700">
            <a:solidFill>
              <a:srgbClr val="D4CBBC"/>
            </a:solidFill>
            <a:prstDash val="solid"/>
          </a:ln>
        </p:spPr>
      </p:sp>
      <p:sp>
        <p:nvSpPr>
          <p:cNvPr id="12" name="Shape 8"/>
          <p:cNvSpPr/>
          <p:nvPr/>
        </p:nvSpPr>
        <p:spPr>
          <a:xfrm>
            <a:off x="4663440" y="1097280"/>
            <a:ext cx="4114800" cy="292608"/>
          </a:xfrm>
          <a:prstGeom prst="rect">
            <a:avLst/>
          </a:prstGeom>
          <a:solidFill>
            <a:srgbClr val="1E4D8C"/>
          </a:solidFill>
          <a:ln/>
        </p:spPr>
      </p:sp>
      <p:sp>
        <p:nvSpPr>
          <p:cNvPr id="13" name="Text 9"/>
          <p:cNvSpPr/>
          <p:nvPr/>
        </p:nvSpPr>
        <p:spPr>
          <a:xfrm>
            <a:off x="4754880" y="1133856"/>
            <a:ext cx="39319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Hasil yang diharapkan</a:t>
            </a:r>
            <a:endParaRPr lang="en-US" sz="1100" dirty="0"/>
          </a:p>
        </p:txBody>
      </p:sp>
      <p:sp>
        <p:nvSpPr>
          <p:cNvPr id="14" name="Text 10"/>
          <p:cNvSpPr/>
          <p:nvPr/>
        </p:nvSpPr>
        <p:spPr>
          <a:xfrm>
            <a:off x="4773168" y="1481328"/>
            <a:ext cx="3895344" cy="2724912"/>
          </a:xfrm>
          <a:prstGeom prst="rect">
            <a:avLst/>
          </a:prstGeom>
          <a:noFill/>
          <a:ln/>
        </p:spPr>
        <p:txBody>
          <a:bodyPr wrap="square" rtlCol="0" anchor="t"/>
          <a:lstStyle/>
          <a:p>
            <a:pPr indent="0" marL="0">
              <a:buNone/>
            </a:pPr>
            <a:r>
              <a:rPr lang="en-US" sz="1100" dirty="0">
                <a:solidFill>
                  <a:srgbClr val="132033"/>
                </a:solidFill>
                <a:latin typeface="Calibri" pitchFamily="34" charset="0"/>
                <a:ea typeface="Calibri" pitchFamily="34" charset="-122"/>
                <a:cs typeface="Calibri" pitchFamily="34" charset="-120"/>
              </a:rPr>
              <a:t>DashboardSpec JSON tersimpan per company_id. Widget dieksekusi lewat QueryPlan yang sama (governance tetap).</a:t>
            </a:r>
            <a:endParaRPr lang="en-US" sz="1100" dirty="0"/>
          </a:p>
        </p:txBody>
      </p:sp>
      <p:sp>
        <p:nvSpPr>
          <p:cNvPr id="15" name="Shape 11"/>
          <p:cNvSpPr/>
          <p:nvPr/>
        </p:nvSpPr>
        <p:spPr>
          <a:xfrm>
            <a:off x="0" y="4800600"/>
            <a:ext cx="9144000" cy="342900"/>
          </a:xfrm>
          <a:prstGeom prst="rect">
            <a:avLst/>
          </a:prstGeom>
          <a:solidFill>
            <a:srgbClr val="132033"/>
          </a:solidFill>
          <a:ln w="12700">
            <a:solidFill>
              <a:srgbClr val="132033"/>
            </a:solidFill>
            <a:prstDash val="solid"/>
          </a:ln>
        </p:spPr>
      </p:sp>
      <p:sp>
        <p:nvSpPr>
          <p:cNvPr id="16" name="Text 12"/>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17" name="Text 13"/>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14 / 18</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Layar: Jejak &amp; Model Semantik</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/traces · /semantic-model</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Shape 3"/>
          <p:cNvSpPr/>
          <p:nvPr/>
        </p:nvSpPr>
        <p:spPr>
          <a:xfrm>
            <a:off x="365760" y="1097280"/>
            <a:ext cx="4114800" cy="3200400"/>
          </a:xfrm>
          <a:prstGeom prst="roundRect">
            <a:avLst>
              <a:gd name="adj" fmla="val 2286"/>
            </a:avLst>
          </a:prstGeom>
          <a:solidFill>
            <a:srgbClr val="FFFFFF"/>
          </a:solidFill>
          <a:ln w="12700">
            <a:solidFill>
              <a:srgbClr val="D4CBBC"/>
            </a:solidFill>
            <a:prstDash val="solid"/>
          </a:ln>
        </p:spPr>
      </p:sp>
      <p:sp>
        <p:nvSpPr>
          <p:cNvPr id="8" name="Shape 4"/>
          <p:cNvSpPr/>
          <p:nvPr/>
        </p:nvSpPr>
        <p:spPr>
          <a:xfrm>
            <a:off x="365760" y="1097280"/>
            <a:ext cx="4114800" cy="292608"/>
          </a:xfrm>
          <a:prstGeom prst="rect">
            <a:avLst/>
          </a:prstGeom>
          <a:solidFill>
            <a:srgbClr val="1E4D8C"/>
          </a:solidFill>
          <a:ln/>
        </p:spPr>
      </p:sp>
      <p:sp>
        <p:nvSpPr>
          <p:cNvPr id="9" name="Text 5"/>
          <p:cNvSpPr/>
          <p:nvPr/>
        </p:nvSpPr>
        <p:spPr>
          <a:xfrm>
            <a:off x="457200" y="1133856"/>
            <a:ext cx="39319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Jejak</a:t>
            </a:r>
            <a:endParaRPr lang="en-US" sz="1100" dirty="0"/>
          </a:p>
        </p:txBody>
      </p:sp>
      <p:sp>
        <p:nvSpPr>
          <p:cNvPr id="10" name="Text 6"/>
          <p:cNvSpPr/>
          <p:nvPr/>
        </p:nvSpPr>
        <p:spPr>
          <a:xfrm>
            <a:off x="475488" y="1481328"/>
            <a:ext cx="3895344" cy="2724912"/>
          </a:xfrm>
          <a:prstGeom prst="rect">
            <a:avLst/>
          </a:prstGeom>
          <a:noFill/>
          <a:ln/>
        </p:spPr>
        <p:txBody>
          <a:bodyPr wrap="square" rtlCol="0" anchor="t"/>
          <a:lstStyle/>
          <a:p>
            <a:pPr indent="0" marL="0">
              <a:buNone/>
            </a:pPr>
            <a:r>
              <a:rPr lang="en-US" sz="1100" dirty="0">
                <a:solidFill>
                  <a:srgbClr val="132033"/>
                </a:solidFill>
                <a:latin typeface="Calibri" pitchFamily="34" charset="0"/>
                <a:ea typeface="Calibri" pitchFamily="34" charset="-122"/>
                <a:cs typeface="Calibri" pitchFamily="34" charset="-120"/>
              </a:rPr>
              <a:t>Langkah: understand_intent → vertex_plan/mock → validate → execute_sqlite → generate_answer. SQL + durasi terlihat.</a:t>
            </a:r>
            <a:endParaRPr lang="en-US" sz="1100" dirty="0"/>
          </a:p>
        </p:txBody>
      </p:sp>
      <p:sp>
        <p:nvSpPr>
          <p:cNvPr id="11" name="Shape 7"/>
          <p:cNvSpPr/>
          <p:nvPr/>
        </p:nvSpPr>
        <p:spPr>
          <a:xfrm>
            <a:off x="4663440" y="1097280"/>
            <a:ext cx="4114800" cy="3200400"/>
          </a:xfrm>
          <a:prstGeom prst="roundRect">
            <a:avLst>
              <a:gd name="adj" fmla="val 2286"/>
            </a:avLst>
          </a:prstGeom>
          <a:solidFill>
            <a:srgbClr val="FFFFFF"/>
          </a:solidFill>
          <a:ln w="12700">
            <a:solidFill>
              <a:srgbClr val="D4CBBC"/>
            </a:solidFill>
            <a:prstDash val="solid"/>
          </a:ln>
        </p:spPr>
      </p:sp>
      <p:sp>
        <p:nvSpPr>
          <p:cNvPr id="12" name="Shape 8"/>
          <p:cNvSpPr/>
          <p:nvPr/>
        </p:nvSpPr>
        <p:spPr>
          <a:xfrm>
            <a:off x="4663440" y="1097280"/>
            <a:ext cx="4114800" cy="292608"/>
          </a:xfrm>
          <a:prstGeom prst="rect">
            <a:avLst/>
          </a:prstGeom>
          <a:solidFill>
            <a:srgbClr val="1E4D8C"/>
          </a:solidFill>
          <a:ln/>
        </p:spPr>
      </p:sp>
      <p:sp>
        <p:nvSpPr>
          <p:cNvPr id="13" name="Text 9"/>
          <p:cNvSpPr/>
          <p:nvPr/>
        </p:nvSpPr>
        <p:spPr>
          <a:xfrm>
            <a:off x="4754880" y="1133856"/>
            <a:ext cx="39319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Model Semantik</a:t>
            </a:r>
            <a:endParaRPr lang="en-US" sz="1100" dirty="0"/>
          </a:p>
        </p:txBody>
      </p:sp>
      <p:sp>
        <p:nvSpPr>
          <p:cNvPr id="14" name="Text 10"/>
          <p:cNvSpPr/>
          <p:nvPr/>
        </p:nvSpPr>
        <p:spPr>
          <a:xfrm>
            <a:off x="4773168" y="1481328"/>
            <a:ext cx="3895344" cy="2724912"/>
          </a:xfrm>
          <a:prstGeom prst="rect">
            <a:avLst/>
          </a:prstGeom>
          <a:noFill/>
          <a:ln/>
        </p:spPr>
        <p:txBody>
          <a:bodyPr wrap="square" rtlCol="0" anchor="t"/>
          <a:lstStyle/>
          <a:p>
            <a:pPr indent="0" marL="0">
              <a:buNone/>
            </a:pPr>
            <a:r>
              <a:rPr lang="en-US" sz="1100" dirty="0">
                <a:solidFill>
                  <a:srgbClr val="132033"/>
                </a:solidFill>
                <a:latin typeface="Calibri" pitchFamily="34" charset="0"/>
                <a:ea typeface="Calibri" pitchFamily="34" charset="-122"/>
                <a:cs typeface="Calibri" pitchFamily="34" charset="-120"/>
              </a:rPr>
              <a:t>Metrik Pendapatan/Pesanan/… dan dimensi Wilayah/Segmen dari commerce.yaml + jejak spesifikasi SDD.</a:t>
            </a:r>
            <a:endParaRPr lang="en-US" sz="1100" dirty="0"/>
          </a:p>
        </p:txBody>
      </p:sp>
      <p:sp>
        <p:nvSpPr>
          <p:cNvPr id="15" name="Shape 11"/>
          <p:cNvSpPr/>
          <p:nvPr/>
        </p:nvSpPr>
        <p:spPr>
          <a:xfrm>
            <a:off x="0" y="4800600"/>
            <a:ext cx="9144000" cy="342900"/>
          </a:xfrm>
          <a:prstGeom prst="rect">
            <a:avLst/>
          </a:prstGeom>
          <a:solidFill>
            <a:srgbClr val="132033"/>
          </a:solidFill>
          <a:ln w="12700">
            <a:solidFill>
              <a:srgbClr val="132033"/>
            </a:solidFill>
            <a:prstDash val="solid"/>
          </a:ln>
        </p:spPr>
      </p:sp>
      <p:sp>
        <p:nvSpPr>
          <p:cNvPr id="16" name="Text 12"/>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17" name="Text 13"/>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15 / 18</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Skrip &amp; regenerasi</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Yang harus ada agar agent bisa membangun ulang aplikasi</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Text 3"/>
          <p:cNvSpPr/>
          <p:nvPr/>
        </p:nvSpPr>
        <p:spPr>
          <a:xfrm>
            <a:off x="457200" y="1188720"/>
            <a:ext cx="8229600" cy="2926080"/>
          </a:xfrm>
          <a:prstGeom prst="rect">
            <a:avLst/>
          </a:prstGeom>
          <a:noFill/>
          <a:ln/>
        </p:spPr>
        <p:txBody>
          <a:bodyPr wrap="square" rtlCol="0" anchor="ctr"/>
          <a:lstStyle/>
          <a:p>
            <a:pPr marL="342900" indent="-342900">
              <a:buSzPct val="100000"/>
              <a:buChar char="•"/>
            </a:pPr>
            <a:r>
              <a:rPr lang="en-US" sz="1500" dirty="0">
                <a:solidFill>
                  <a:srgbClr val="132033"/>
                </a:solidFill>
                <a:latin typeface="Calibri" pitchFamily="34" charset="0"/>
                <a:ea typeface="Calibri" pitchFamily="34" charset="-122"/>
                <a:cs typeface="Calibri" pitchFamily="34" charset="-120"/>
              </a:rPr>
              <a:t>npm run demo — seed CSV + next dev</a:t>
            </a:r>
            <a:endParaRPr lang="en-US" sz="1500" dirty="0"/>
          </a:p>
          <a:p>
            <a:pPr marL="342900" indent="-342900">
              <a:buSzPct val="100000"/>
              <a:buChar char="•"/>
            </a:pPr>
            <a:r>
              <a:rPr lang="en-US" sz="1500" dirty="0">
                <a:solidFill>
                  <a:srgbClr val="132033"/>
                </a:solidFill>
                <a:latin typeface="Calibri" pitchFamily="34" charset="0"/>
                <a:ea typeface="Calibri" pitchFamily="34" charset="-122"/>
                <a:cs typeface="Calibri" pitchFamily="34" charset="-120"/>
              </a:rPr>
              <a:t>npm run db:seed / data:export-csv — pipeline sampel per perusahaan</a:t>
            </a:r>
            <a:endParaRPr lang="en-US" sz="1500" dirty="0"/>
          </a:p>
          <a:p>
            <a:pPr marL="342900" indent="-342900">
              <a:buSzPct val="100000"/>
              <a:buChar char="•"/>
            </a:pPr>
            <a:r>
              <a:rPr lang="en-US" sz="1500" dirty="0">
                <a:solidFill>
                  <a:srgbClr val="132033"/>
                </a:solidFill>
                <a:latin typeface="Calibri" pitchFamily="34" charset="0"/>
                <a:ea typeface="Calibri" pitchFamily="34" charset="-122"/>
                <a:cs typeface="Calibri" pitchFamily="34" charset="-120"/>
              </a:rPr>
              <a:t>npm run login / generate-env — ADC Vertex → .gcloud/ + .env</a:t>
            </a:r>
            <a:endParaRPr lang="en-US" sz="1500" dirty="0"/>
          </a:p>
          <a:p>
            <a:pPr marL="342900" indent="-342900">
              <a:buSzPct val="100000"/>
              <a:buChar char="•"/>
            </a:pPr>
            <a:r>
              <a:rPr lang="en-US" sz="1500" dirty="0">
                <a:solidFill>
                  <a:srgbClr val="132033"/>
                </a:solidFill>
                <a:latin typeface="Calibri" pitchFamily="34" charset="0"/>
                <a:ea typeface="Calibri" pitchFamily="34" charset="-122"/>
                <a:cs typeface="Calibri" pitchFamily="34" charset="-120"/>
              </a:rPr>
              <a:t>npm test — AGENT_BACKEND=mock (deterministik)</a:t>
            </a:r>
            <a:endParaRPr lang="en-US" sz="1500" dirty="0"/>
          </a:p>
          <a:p>
            <a:pPr marL="342900" indent="-342900">
              <a:buSzPct val="100000"/>
              <a:buChar char="•"/>
            </a:pPr>
            <a:r>
              <a:rPr lang="en-US" sz="1500" dirty="0">
                <a:solidFill>
                  <a:srgbClr val="132033"/>
                </a:solidFill>
                <a:latin typeface="Calibri" pitchFamily="34" charset="0"/>
                <a:ea typeface="Calibri" pitchFamily="34" charset="-122"/>
                <a:cs typeface="Calibri" pitchFamily="34" charset="-120"/>
              </a:rPr>
              <a:t>Prompt regenerasi: specs/regeneration/prompts/regenerate-full-app.md</a:t>
            </a:r>
            <a:endParaRPr lang="en-US" sz="1500" dirty="0"/>
          </a:p>
        </p:txBody>
      </p:sp>
      <p:sp>
        <p:nvSpPr>
          <p:cNvPr id="8" name="Shape 4"/>
          <p:cNvSpPr/>
          <p:nvPr/>
        </p:nvSpPr>
        <p:spPr>
          <a:xfrm>
            <a:off x="0" y="4800600"/>
            <a:ext cx="9144000" cy="342900"/>
          </a:xfrm>
          <a:prstGeom prst="rect">
            <a:avLst/>
          </a:prstGeom>
          <a:solidFill>
            <a:srgbClr val="132033"/>
          </a:solidFill>
          <a:ln w="12700">
            <a:solidFill>
              <a:srgbClr val="132033"/>
            </a:solidFill>
            <a:prstDash val="solid"/>
          </a:ln>
        </p:spPr>
      </p:sp>
      <p:sp>
        <p:nvSpPr>
          <p:cNvPr id="9" name="Text 5"/>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10" name="Text 6"/>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16 / 18</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FE6"/>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32033"/>
          </a:solidFill>
          <a:ln/>
        </p:spPr>
      </p:sp>
      <p:sp>
        <p:nvSpPr>
          <p:cNvPr id="3" name="Text 1"/>
          <p:cNvSpPr/>
          <p:nvPr/>
        </p:nvSpPr>
        <p:spPr>
          <a:xfrm>
            <a:off x="365760" y="164592"/>
            <a:ext cx="7498080" cy="365760"/>
          </a:xfrm>
          <a:prstGeom prst="rect">
            <a:avLst/>
          </a:prstGeom>
          <a:noFill/>
          <a:ln/>
        </p:spPr>
        <p:txBody>
          <a:bodyPr wrap="square" rtlCol="0" anchor="ctr"/>
          <a:lstStyle/>
          <a:p>
            <a:pPr indent="0" marL="0">
              <a:buNone/>
            </a:pPr>
            <a:r>
              <a:rPr lang="en-US" sz="2200" b="1" dirty="0">
                <a:solidFill>
                  <a:srgbClr val="F4EFE6"/>
                </a:solidFill>
                <a:latin typeface="Georgia" pitchFamily="34" charset="0"/>
                <a:ea typeface="Georgia" pitchFamily="34" charset="-122"/>
                <a:cs typeface="Georgia" pitchFamily="34" charset="-120"/>
              </a:rPr>
              <a:t>Checklist demo live (10 menit)</a:t>
            </a:r>
            <a:endParaRPr lang="en-US" sz="2200" dirty="0"/>
          </a:p>
        </p:txBody>
      </p:sp>
      <p:sp>
        <p:nvSpPr>
          <p:cNvPr id="4" name="Text 2"/>
          <p:cNvSpPr/>
          <p:nvPr/>
        </p:nvSpPr>
        <p:spPr>
          <a:xfrm>
            <a:off x="365760" y="502920"/>
            <a:ext cx="7498080" cy="256032"/>
          </a:xfrm>
          <a:prstGeom prst="rect">
            <a:avLst/>
          </a:prstGeom>
          <a:noFill/>
          <a:ln/>
        </p:spPr>
        <p:txBody>
          <a:bodyPr wrap="square" rtlCol="0" anchor="ctr"/>
          <a:lstStyle/>
          <a:p>
            <a:pPr indent="0" marL="0">
              <a:buNone/>
            </a:pPr>
            <a:r>
              <a:rPr lang="en-US" sz="1200" dirty="0">
                <a:solidFill>
                  <a:srgbClr val="A8C0DE"/>
                </a:solidFill>
                <a:latin typeface="Calibri" pitchFamily="34" charset="0"/>
                <a:ea typeface="Calibri" pitchFamily="34" charset="-122"/>
                <a:cs typeface="Calibri" pitchFamily="34" charset="-120"/>
              </a:rPr>
              <a:t>Bagian #04 agenda — bukti, bukan slide saja</a:t>
            </a:r>
            <a:endParaRPr lang="en-US" sz="1200" dirty="0"/>
          </a:p>
        </p:txBody>
      </p:sp>
      <p:pic>
        <p:nvPicPr>
          <p:cNvPr id="5" name="Image 0" descr="/Users/iman.suherman/src/personal/sdd-analytics-copilot/public/logo.png">    </p:cNvPr>
          <p:cNvPicPr>
            <a:picLocks noChangeAspect="1"/>
          </p:cNvPicPr>
          <p:nvPr/>
        </p:nvPicPr>
        <p:blipFill>
          <a:blip r:embed="rId1"/>
          <a:stretch>
            <a:fillRect/>
          </a:stretch>
        </p:blipFill>
        <p:spPr>
          <a:xfrm>
            <a:off x="8366760" y="137160"/>
            <a:ext cx="594360" cy="594360"/>
          </a:xfrm>
          <a:prstGeom prst="rect">
            <a:avLst/>
          </a:prstGeom>
        </p:spPr>
      </p:pic>
      <p:sp>
        <p:nvSpPr>
          <p:cNvPr id="7" name="Shape 3"/>
          <p:cNvSpPr/>
          <p:nvPr/>
        </p:nvSpPr>
        <p:spPr>
          <a:xfrm>
            <a:off x="411480" y="1097280"/>
            <a:ext cx="4114800" cy="502920"/>
          </a:xfrm>
          <a:prstGeom prst="roundRect">
            <a:avLst>
              <a:gd name="adj" fmla="val 9091"/>
            </a:avLst>
          </a:prstGeom>
          <a:solidFill>
            <a:srgbClr val="FFFFFF"/>
          </a:solidFill>
          <a:ln w="12700">
            <a:solidFill>
              <a:srgbClr val="D4CBBC"/>
            </a:solidFill>
            <a:prstDash val="solid"/>
          </a:ln>
        </p:spPr>
      </p:sp>
      <p:sp>
        <p:nvSpPr>
          <p:cNvPr id="8" name="Text 4"/>
          <p:cNvSpPr/>
          <p:nvPr/>
        </p:nvSpPr>
        <p:spPr>
          <a:xfrm>
            <a:off x="548640" y="1188720"/>
            <a:ext cx="3840480" cy="320040"/>
          </a:xfrm>
          <a:prstGeom prst="rect">
            <a:avLst/>
          </a:prstGeom>
          <a:noFill/>
          <a:ln/>
        </p:spPr>
        <p:txBody>
          <a:bodyPr wrap="square" rtlCol="0" anchor="ctr"/>
          <a:lstStyle/>
          <a:p>
            <a:pPr indent="0" marL="0">
              <a:buNone/>
            </a:pPr>
            <a:r>
              <a:rPr lang="en-US" sz="1200" dirty="0">
                <a:solidFill>
                  <a:srgbClr val="132033"/>
                </a:solidFill>
                <a:latin typeface="Calibri" pitchFamily="34" charset="0"/>
                <a:ea typeface="Calibri" pitchFamily="34" charset="-122"/>
                <a:cs typeface="Calibri" pitchFamily="34" charset="-120"/>
              </a:rPr>
              <a:t>☐  npm run demo → http://localhost:3000</a:t>
            </a:r>
            <a:endParaRPr lang="en-US" sz="1200" dirty="0"/>
          </a:p>
        </p:txBody>
      </p:sp>
      <p:sp>
        <p:nvSpPr>
          <p:cNvPr id="9" name="Shape 5"/>
          <p:cNvSpPr/>
          <p:nvPr/>
        </p:nvSpPr>
        <p:spPr>
          <a:xfrm>
            <a:off x="411480" y="1691640"/>
            <a:ext cx="4114800" cy="502920"/>
          </a:xfrm>
          <a:prstGeom prst="roundRect">
            <a:avLst>
              <a:gd name="adj" fmla="val 9091"/>
            </a:avLst>
          </a:prstGeom>
          <a:solidFill>
            <a:srgbClr val="FFFFFF"/>
          </a:solidFill>
          <a:ln w="12700">
            <a:solidFill>
              <a:srgbClr val="D4CBBC"/>
            </a:solidFill>
            <a:prstDash val="solid"/>
          </a:ln>
        </p:spPr>
      </p:sp>
      <p:sp>
        <p:nvSpPr>
          <p:cNvPr id="10" name="Text 6"/>
          <p:cNvSpPr/>
          <p:nvPr/>
        </p:nvSpPr>
        <p:spPr>
          <a:xfrm>
            <a:off x="548640" y="1783080"/>
            <a:ext cx="3840480" cy="320040"/>
          </a:xfrm>
          <a:prstGeom prst="rect">
            <a:avLst/>
          </a:prstGeom>
          <a:noFill/>
          <a:ln/>
        </p:spPr>
        <p:txBody>
          <a:bodyPr wrap="square" rtlCol="0" anchor="ctr"/>
          <a:lstStyle/>
          <a:p>
            <a:pPr indent="0" marL="0">
              <a:buNone/>
            </a:pPr>
            <a:r>
              <a:rPr lang="en-US" sz="1200" dirty="0">
                <a:solidFill>
                  <a:srgbClr val="132033"/>
                </a:solidFill>
                <a:latin typeface="Calibri" pitchFamily="34" charset="0"/>
                <a:ea typeface="Calibri" pitchFamily="34" charset="-122"/>
                <a:cs typeface="Calibri" pitchFamily="34" charset="-120"/>
              </a:rPr>
              <a:t>☐  Buka bubble Kopilot / kartu beranda</a:t>
            </a:r>
            <a:endParaRPr lang="en-US" sz="1200" dirty="0"/>
          </a:p>
        </p:txBody>
      </p:sp>
      <p:sp>
        <p:nvSpPr>
          <p:cNvPr id="11" name="Shape 7"/>
          <p:cNvSpPr/>
          <p:nvPr/>
        </p:nvSpPr>
        <p:spPr>
          <a:xfrm>
            <a:off x="411480" y="2286000"/>
            <a:ext cx="4114800" cy="502920"/>
          </a:xfrm>
          <a:prstGeom prst="roundRect">
            <a:avLst>
              <a:gd name="adj" fmla="val 9091"/>
            </a:avLst>
          </a:prstGeom>
          <a:solidFill>
            <a:srgbClr val="FFFFFF"/>
          </a:solidFill>
          <a:ln w="12700">
            <a:solidFill>
              <a:srgbClr val="D4CBBC"/>
            </a:solidFill>
            <a:prstDash val="solid"/>
          </a:ln>
        </p:spPr>
      </p:sp>
      <p:sp>
        <p:nvSpPr>
          <p:cNvPr id="12" name="Text 8"/>
          <p:cNvSpPr/>
          <p:nvPr/>
        </p:nvSpPr>
        <p:spPr>
          <a:xfrm>
            <a:off x="548640" y="2377440"/>
            <a:ext cx="3840480" cy="320040"/>
          </a:xfrm>
          <a:prstGeom prst="rect">
            <a:avLst/>
          </a:prstGeom>
          <a:noFill/>
          <a:ln/>
        </p:spPr>
        <p:txBody>
          <a:bodyPr wrap="square" rtlCol="0" anchor="ctr"/>
          <a:lstStyle/>
          <a:p>
            <a:pPr indent="0" marL="0">
              <a:buNone/>
            </a:pPr>
            <a:r>
              <a:rPr lang="en-US" sz="1200" dirty="0">
                <a:solidFill>
                  <a:srgbClr val="132033"/>
                </a:solidFill>
                <a:latin typeface="Calibri" pitchFamily="34" charset="0"/>
                <a:ea typeface="Calibri" pitchFamily="34" charset="-122"/>
                <a:cs typeface="Calibri" pitchFamily="34" charset="-120"/>
              </a:rPr>
              <a:t>☐  Bandingkan pendapatan bulan lalu</a:t>
            </a:r>
            <a:endParaRPr lang="en-US" sz="1200" dirty="0"/>
          </a:p>
        </p:txBody>
      </p:sp>
      <p:sp>
        <p:nvSpPr>
          <p:cNvPr id="13" name="Shape 9"/>
          <p:cNvSpPr/>
          <p:nvPr/>
        </p:nvSpPr>
        <p:spPr>
          <a:xfrm>
            <a:off x="411480" y="2880360"/>
            <a:ext cx="4114800" cy="502920"/>
          </a:xfrm>
          <a:prstGeom prst="roundRect">
            <a:avLst>
              <a:gd name="adj" fmla="val 9091"/>
            </a:avLst>
          </a:prstGeom>
          <a:solidFill>
            <a:srgbClr val="FFFFFF"/>
          </a:solidFill>
          <a:ln w="12700">
            <a:solidFill>
              <a:srgbClr val="D4CBBC"/>
            </a:solidFill>
            <a:prstDash val="solid"/>
          </a:ln>
        </p:spPr>
      </p:sp>
      <p:sp>
        <p:nvSpPr>
          <p:cNvPr id="14" name="Text 10"/>
          <p:cNvSpPr/>
          <p:nvPr/>
        </p:nvSpPr>
        <p:spPr>
          <a:xfrm>
            <a:off x="548640" y="2971800"/>
            <a:ext cx="3840480" cy="320040"/>
          </a:xfrm>
          <a:prstGeom prst="rect">
            <a:avLst/>
          </a:prstGeom>
          <a:noFill/>
          <a:ln/>
        </p:spPr>
        <p:txBody>
          <a:bodyPr wrap="square" rtlCol="0" anchor="ctr"/>
          <a:lstStyle/>
          <a:p>
            <a:pPr indent="0" marL="0">
              <a:buNone/>
            </a:pPr>
            <a:r>
              <a:rPr lang="en-US" sz="1200" dirty="0">
                <a:solidFill>
                  <a:srgbClr val="132033"/>
                </a:solidFill>
                <a:latin typeface="Calibri" pitchFamily="34" charset="0"/>
                <a:ea typeface="Calibri" pitchFamily="34" charset="-122"/>
                <a:cs typeface="Calibri" pitchFamily="34" charset="-120"/>
              </a:rPr>
              <a:t>☐  Kenapa Sumatera turun? (bukan APAC)</a:t>
            </a:r>
            <a:endParaRPr lang="en-US" sz="1200" dirty="0"/>
          </a:p>
        </p:txBody>
      </p:sp>
      <p:sp>
        <p:nvSpPr>
          <p:cNvPr id="15" name="Shape 11"/>
          <p:cNvSpPr/>
          <p:nvPr/>
        </p:nvSpPr>
        <p:spPr>
          <a:xfrm>
            <a:off x="411480" y="3474720"/>
            <a:ext cx="4114800" cy="502920"/>
          </a:xfrm>
          <a:prstGeom prst="roundRect">
            <a:avLst>
              <a:gd name="adj" fmla="val 9091"/>
            </a:avLst>
          </a:prstGeom>
          <a:solidFill>
            <a:srgbClr val="FFFFFF"/>
          </a:solidFill>
          <a:ln w="12700">
            <a:solidFill>
              <a:srgbClr val="D4CBBC"/>
            </a:solidFill>
            <a:prstDash val="solid"/>
          </a:ln>
        </p:spPr>
      </p:sp>
      <p:sp>
        <p:nvSpPr>
          <p:cNvPr id="16" name="Text 12"/>
          <p:cNvSpPr/>
          <p:nvPr/>
        </p:nvSpPr>
        <p:spPr>
          <a:xfrm>
            <a:off x="548640" y="3566160"/>
            <a:ext cx="3840480" cy="320040"/>
          </a:xfrm>
          <a:prstGeom prst="rect">
            <a:avLst/>
          </a:prstGeom>
          <a:noFill/>
          <a:ln/>
        </p:spPr>
        <p:txBody>
          <a:bodyPr wrap="square" rtlCol="0" anchor="ctr"/>
          <a:lstStyle/>
          <a:p>
            <a:pPr indent="0" marL="0">
              <a:buNone/>
            </a:pPr>
            <a:r>
              <a:rPr lang="en-US" sz="1200" dirty="0">
                <a:solidFill>
                  <a:srgbClr val="132033"/>
                </a:solidFill>
                <a:latin typeface="Calibri" pitchFamily="34" charset="0"/>
                <a:ea typeface="Calibri" pitchFamily="34" charset="-122"/>
                <a:cs typeface="Calibri" pitchFamily="34" charset="-120"/>
              </a:rPr>
              <a:t>☐  Perluas QueryPlan + Bukti (SQL + company_id)</a:t>
            </a:r>
            <a:endParaRPr lang="en-US" sz="1200" dirty="0"/>
          </a:p>
        </p:txBody>
      </p:sp>
      <p:sp>
        <p:nvSpPr>
          <p:cNvPr id="17" name="Shape 13"/>
          <p:cNvSpPr/>
          <p:nvPr/>
        </p:nvSpPr>
        <p:spPr>
          <a:xfrm>
            <a:off x="4800600" y="1097280"/>
            <a:ext cx="4114800" cy="502920"/>
          </a:xfrm>
          <a:prstGeom prst="roundRect">
            <a:avLst>
              <a:gd name="adj" fmla="val 9091"/>
            </a:avLst>
          </a:prstGeom>
          <a:solidFill>
            <a:srgbClr val="FFFFFF"/>
          </a:solidFill>
          <a:ln w="12700">
            <a:solidFill>
              <a:srgbClr val="D4CBBC"/>
            </a:solidFill>
            <a:prstDash val="solid"/>
          </a:ln>
        </p:spPr>
      </p:sp>
      <p:sp>
        <p:nvSpPr>
          <p:cNvPr id="18" name="Text 14"/>
          <p:cNvSpPr/>
          <p:nvPr/>
        </p:nvSpPr>
        <p:spPr>
          <a:xfrm>
            <a:off x="4937760" y="1188720"/>
            <a:ext cx="3840480" cy="320040"/>
          </a:xfrm>
          <a:prstGeom prst="rect">
            <a:avLst/>
          </a:prstGeom>
          <a:noFill/>
          <a:ln/>
        </p:spPr>
        <p:txBody>
          <a:bodyPr wrap="square" rtlCol="0" anchor="ctr"/>
          <a:lstStyle/>
          <a:p>
            <a:pPr indent="0" marL="0">
              <a:buNone/>
            </a:pPr>
            <a:r>
              <a:rPr lang="en-US" sz="1200" dirty="0">
                <a:solidFill>
                  <a:srgbClr val="132033"/>
                </a:solidFill>
                <a:latin typeface="Calibri" pitchFamily="34" charset="0"/>
                <a:ea typeface="Calibri" pitchFamily="34" charset="-122"/>
                <a:cs typeface="Calibri" pitchFamily="34" charset="-120"/>
              </a:rPr>
              <a:t>☐  Simpan ke dasbor → buka Dasbor</a:t>
            </a:r>
            <a:endParaRPr lang="en-US" sz="1200" dirty="0"/>
          </a:p>
        </p:txBody>
      </p:sp>
      <p:sp>
        <p:nvSpPr>
          <p:cNvPr id="19" name="Shape 15"/>
          <p:cNvSpPr/>
          <p:nvPr/>
        </p:nvSpPr>
        <p:spPr>
          <a:xfrm>
            <a:off x="4800600" y="1691640"/>
            <a:ext cx="4114800" cy="502920"/>
          </a:xfrm>
          <a:prstGeom prst="roundRect">
            <a:avLst>
              <a:gd name="adj" fmla="val 9091"/>
            </a:avLst>
          </a:prstGeom>
          <a:solidFill>
            <a:srgbClr val="FFFFFF"/>
          </a:solidFill>
          <a:ln w="12700">
            <a:solidFill>
              <a:srgbClr val="D4CBBC"/>
            </a:solidFill>
            <a:prstDash val="solid"/>
          </a:ln>
        </p:spPr>
      </p:sp>
      <p:sp>
        <p:nvSpPr>
          <p:cNvPr id="20" name="Text 16"/>
          <p:cNvSpPr/>
          <p:nvPr/>
        </p:nvSpPr>
        <p:spPr>
          <a:xfrm>
            <a:off x="4937760" y="1783080"/>
            <a:ext cx="3840480" cy="320040"/>
          </a:xfrm>
          <a:prstGeom prst="rect">
            <a:avLst/>
          </a:prstGeom>
          <a:noFill/>
          <a:ln/>
        </p:spPr>
        <p:txBody>
          <a:bodyPr wrap="square" rtlCol="0" anchor="ctr"/>
          <a:lstStyle/>
          <a:p>
            <a:pPr indent="0" marL="0">
              <a:buNone/>
            </a:pPr>
            <a:r>
              <a:rPr lang="en-US" sz="1200" dirty="0">
                <a:solidFill>
                  <a:srgbClr val="132033"/>
                </a:solidFill>
                <a:latin typeface="Calibri" pitchFamily="34" charset="0"/>
                <a:ea typeface="Calibri" pitchFamily="34" charset="-122"/>
                <a:cs typeface="Calibri" pitchFamily="34" charset="-120"/>
              </a:rPr>
              <a:t>☐  Ganti wilayah → segmen</a:t>
            </a:r>
            <a:endParaRPr lang="en-US" sz="1200" dirty="0"/>
          </a:p>
        </p:txBody>
      </p:sp>
      <p:sp>
        <p:nvSpPr>
          <p:cNvPr id="21" name="Shape 17"/>
          <p:cNvSpPr/>
          <p:nvPr/>
        </p:nvSpPr>
        <p:spPr>
          <a:xfrm>
            <a:off x="4800600" y="2286000"/>
            <a:ext cx="4114800" cy="502920"/>
          </a:xfrm>
          <a:prstGeom prst="roundRect">
            <a:avLst>
              <a:gd name="adj" fmla="val 9091"/>
            </a:avLst>
          </a:prstGeom>
          <a:solidFill>
            <a:srgbClr val="FFFFFF"/>
          </a:solidFill>
          <a:ln w="12700">
            <a:solidFill>
              <a:srgbClr val="D4CBBC"/>
            </a:solidFill>
            <a:prstDash val="solid"/>
          </a:ln>
        </p:spPr>
      </p:sp>
      <p:sp>
        <p:nvSpPr>
          <p:cNvPr id="22" name="Text 18"/>
          <p:cNvSpPr/>
          <p:nvPr/>
        </p:nvSpPr>
        <p:spPr>
          <a:xfrm>
            <a:off x="4937760" y="2377440"/>
            <a:ext cx="3840480" cy="320040"/>
          </a:xfrm>
          <a:prstGeom prst="rect">
            <a:avLst/>
          </a:prstGeom>
          <a:noFill/>
          <a:ln/>
        </p:spPr>
        <p:txBody>
          <a:bodyPr wrap="square" rtlCol="0" anchor="ctr"/>
          <a:lstStyle/>
          <a:p>
            <a:pPr indent="0" marL="0">
              <a:buNone/>
            </a:pPr>
            <a:r>
              <a:rPr lang="en-US" sz="1200" dirty="0">
                <a:solidFill>
                  <a:srgbClr val="132033"/>
                </a:solidFill>
                <a:latin typeface="Calibri" pitchFamily="34" charset="0"/>
                <a:ea typeface="Calibri" pitchFamily="34" charset="-122"/>
                <a:cs typeface="Calibri" pitchFamily="34" charset="-120"/>
              </a:rPr>
              <a:t>☐  Buka Jejak · opsional Maximize dock</a:t>
            </a:r>
            <a:endParaRPr lang="en-US" sz="1200" dirty="0"/>
          </a:p>
        </p:txBody>
      </p:sp>
      <p:sp>
        <p:nvSpPr>
          <p:cNvPr id="23" name="Shape 19"/>
          <p:cNvSpPr/>
          <p:nvPr/>
        </p:nvSpPr>
        <p:spPr>
          <a:xfrm>
            <a:off x="4800600" y="2880360"/>
            <a:ext cx="4114800" cy="502920"/>
          </a:xfrm>
          <a:prstGeom prst="roundRect">
            <a:avLst>
              <a:gd name="adj" fmla="val 9091"/>
            </a:avLst>
          </a:prstGeom>
          <a:solidFill>
            <a:srgbClr val="FFFFFF"/>
          </a:solidFill>
          <a:ln w="12700">
            <a:solidFill>
              <a:srgbClr val="D4CBBC"/>
            </a:solidFill>
            <a:prstDash val="solid"/>
          </a:ln>
        </p:spPr>
      </p:sp>
      <p:sp>
        <p:nvSpPr>
          <p:cNvPr id="24" name="Text 20"/>
          <p:cNvSpPr/>
          <p:nvPr/>
        </p:nvSpPr>
        <p:spPr>
          <a:xfrm>
            <a:off x="4937760" y="2971800"/>
            <a:ext cx="3840480" cy="320040"/>
          </a:xfrm>
          <a:prstGeom prst="rect">
            <a:avLst/>
          </a:prstGeom>
          <a:noFill/>
          <a:ln/>
        </p:spPr>
        <p:txBody>
          <a:bodyPr wrap="square" rtlCol="0" anchor="ctr"/>
          <a:lstStyle/>
          <a:p>
            <a:pPr indent="0" marL="0">
              <a:buNone/>
            </a:pPr>
            <a:r>
              <a:rPr lang="en-US" sz="1200" dirty="0">
                <a:solidFill>
                  <a:srgbClr val="132033"/>
                </a:solidFill>
                <a:latin typeface="Calibri" pitchFamily="34" charset="0"/>
                <a:ea typeface="Calibri" pitchFamily="34" charset="-122"/>
                <a:cs typeface="Calibri" pitchFamily="34" charset="-120"/>
              </a:rPr>
              <a:t>☐  Opsional: npm run login → jejak backend vertex</a:t>
            </a:r>
            <a:endParaRPr lang="en-US" sz="1200" dirty="0"/>
          </a:p>
        </p:txBody>
      </p:sp>
      <p:sp>
        <p:nvSpPr>
          <p:cNvPr id="25" name="Shape 21"/>
          <p:cNvSpPr/>
          <p:nvPr/>
        </p:nvSpPr>
        <p:spPr>
          <a:xfrm>
            <a:off x="0" y="4800600"/>
            <a:ext cx="9144000" cy="342900"/>
          </a:xfrm>
          <a:prstGeom prst="rect">
            <a:avLst/>
          </a:prstGeom>
          <a:solidFill>
            <a:srgbClr val="132033"/>
          </a:solidFill>
          <a:ln w="12700">
            <a:solidFill>
              <a:srgbClr val="132033"/>
            </a:solidFill>
            <a:prstDash val="solid"/>
          </a:ln>
        </p:spPr>
      </p:sp>
      <p:sp>
        <p:nvSpPr>
          <p:cNvPr id="26" name="Text 22"/>
          <p:cNvSpPr/>
          <p:nvPr/>
        </p:nvSpPr>
        <p:spPr>
          <a:xfrm>
            <a:off x="320040" y="4846320"/>
            <a:ext cx="6858000" cy="256032"/>
          </a:xfrm>
          <a:prstGeom prst="rect">
            <a:avLst/>
          </a:prstGeom>
          <a:noFill/>
          <a:ln/>
        </p:spPr>
        <p:txBody>
          <a:bodyPr wrap="square" rtlCol="0" anchor="ctr"/>
          <a:lstStyle/>
          <a:p>
            <a:pPr indent="0" marL="0">
              <a:buNone/>
            </a:pPr>
            <a:r>
              <a:rPr lang="en-US" sz="1000" dirty="0">
                <a:solidFill>
                  <a:srgbClr val="F4EFE6"/>
                </a:solidFill>
                <a:latin typeface="Calibri" pitchFamily="34" charset="0"/>
                <a:ea typeface="Calibri" pitchFamily="34" charset="-122"/>
                <a:cs typeface="Calibri" pitchFamily="34" charset="-120"/>
              </a:rPr>
              <a:t>suherman.net  ·  Spec-Driven Development  ·  SDD Analitik Kopilot</a:t>
            </a:r>
            <a:endParaRPr lang="en-US" sz="1000" dirty="0"/>
          </a:p>
        </p:txBody>
      </p:sp>
      <p:sp>
        <p:nvSpPr>
          <p:cNvPr id="27" name="Text 23"/>
          <p:cNvSpPr/>
          <p:nvPr/>
        </p:nvSpPr>
        <p:spPr>
          <a:xfrm>
            <a:off x="7680960" y="4846320"/>
            <a:ext cx="1188720" cy="256032"/>
          </a:xfrm>
          <a:prstGeom prst="rect">
            <a:avLst/>
          </a:prstGeom>
          <a:noFill/>
          <a:ln/>
        </p:spPr>
        <p:txBody>
          <a:bodyPr wrap="square" rtlCol="0" anchor="ctr"/>
          <a:lstStyle/>
          <a:p>
            <a:pPr algn="r" indent="0" marL="0">
              <a:buNone/>
            </a:pPr>
            <a:r>
              <a:rPr lang="en-US" sz="1000" dirty="0">
                <a:solidFill>
                  <a:srgbClr val="F4EFE6"/>
                </a:solidFill>
                <a:latin typeface="Calibri" pitchFamily="34" charset="0"/>
                <a:ea typeface="Calibri" pitchFamily="34" charset="-122"/>
                <a:cs typeface="Calibri" pitchFamily="34" charset="-120"/>
              </a:rPr>
              <a:t>17 / 18</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033"/>
        </a:solidFill>
      </p:bgPr>
    </p:bg>
    <p:spTree>
      <p:nvGrpSpPr>
        <p:cNvPr id="1" name=""/>
        <p:cNvGrpSpPr/>
        <p:nvPr/>
      </p:nvGrpSpPr>
      <p:grpSpPr>
        <a:xfrm>
          <a:off x="0" y="0"/>
          <a:ext cx="0" cy="0"/>
          <a:chOff x="0" y="0"/>
          <a:chExt cx="0" cy="0"/>
        </a:xfrm>
      </p:grpSpPr>
      <p:pic>
        <p:nvPicPr>
          <p:cNvPr id="2" name="Image 0" descr="/Users/iman.suherman/src/personal/sdd-analytics-copilot/public/logo.png">    </p:cNvPr>
          <p:cNvPicPr>
            <a:picLocks noChangeAspect="1"/>
          </p:cNvPicPr>
          <p:nvPr/>
        </p:nvPicPr>
        <p:blipFill>
          <a:blip r:embed="rId1"/>
          <a:stretch>
            <a:fillRect/>
          </a:stretch>
        </p:blipFill>
        <p:spPr>
          <a:xfrm>
            <a:off x="4069080" y="502920"/>
            <a:ext cx="1005840" cy="1005840"/>
          </a:xfrm>
          <a:prstGeom prst="rect">
            <a:avLst/>
          </a:prstGeom>
        </p:spPr>
      </p:pic>
      <p:sp>
        <p:nvSpPr>
          <p:cNvPr id="3" name="Text 0"/>
          <p:cNvSpPr/>
          <p:nvPr/>
        </p:nvSpPr>
        <p:spPr>
          <a:xfrm>
            <a:off x="457200" y="1737360"/>
            <a:ext cx="8229600" cy="457200"/>
          </a:xfrm>
          <a:prstGeom prst="rect">
            <a:avLst/>
          </a:prstGeom>
          <a:noFill/>
          <a:ln/>
        </p:spPr>
        <p:txBody>
          <a:bodyPr wrap="square" rtlCol="0" anchor="ctr"/>
          <a:lstStyle/>
          <a:p>
            <a:pPr algn="ctr" indent="0" marL="0">
              <a:buNone/>
            </a:pPr>
            <a:r>
              <a:rPr lang="en-US" sz="3400" b="1" dirty="0">
                <a:solidFill>
                  <a:srgbClr val="F4EFE6"/>
                </a:solidFill>
                <a:latin typeface="Georgia" pitchFamily="34" charset="0"/>
                <a:ea typeface="Georgia" pitchFamily="34" charset="-122"/>
                <a:cs typeface="Georgia" pitchFamily="34" charset="-120"/>
              </a:rPr>
              <a:t>Terima kasih</a:t>
            </a:r>
            <a:endParaRPr lang="en-US" sz="3400" dirty="0"/>
          </a:p>
        </p:txBody>
      </p:sp>
      <p:sp>
        <p:nvSpPr>
          <p:cNvPr id="4" name="Text 1"/>
          <p:cNvSpPr/>
          <p:nvPr/>
        </p:nvSpPr>
        <p:spPr>
          <a:xfrm>
            <a:off x="914400" y="2377440"/>
            <a:ext cx="7315200" cy="731520"/>
          </a:xfrm>
          <a:prstGeom prst="rect">
            <a:avLst/>
          </a:prstGeom>
          <a:noFill/>
          <a:ln/>
        </p:spPr>
        <p:txBody>
          <a:bodyPr wrap="square" rtlCol="0" anchor="ctr"/>
          <a:lstStyle/>
          <a:p>
            <a:pPr algn="ctr" indent="0" marL="0">
              <a:buNone/>
            </a:pPr>
            <a:r>
              <a:rPr lang="en-US" sz="1500" dirty="0">
                <a:solidFill>
                  <a:srgbClr val="A8C0DE"/>
                </a:solidFill>
                <a:latin typeface="Calibri" pitchFamily="34" charset="0"/>
                <a:ea typeface="Calibri" pitchFamily="34" charset="-122"/>
                <a:cs typeface="Calibri" pitchFamily="34" charset="-120"/>
              </a:rPr>
              <a:t>Yang menskala: sistem spesifikasi + agent + verifikasi.</a:t>
            </a:r>
            <a:endParaRPr lang="en-US" sz="1500" dirty="0"/>
          </a:p>
          <a:p>
            <a:pPr algn="ctr" indent="0" marL="0">
              <a:buNone/>
            </a:pPr>
            <a:r>
              <a:rPr lang="en-US" sz="1500" dirty="0">
                <a:solidFill>
                  <a:srgbClr val="A8C0DE"/>
                </a:solidFill>
                <a:latin typeface="Calibri" pitchFamily="34" charset="0"/>
                <a:ea typeface="Calibri" pitchFamily="34" charset="-122"/>
                <a:cs typeface="Calibri" pitchFamily="34" charset="-120"/>
              </a:rPr>
              <a:t>Bukan satu prompt yang “beruntung”.</a:t>
            </a:r>
            <a:endParaRPr lang="en-US" sz="1500" dirty="0"/>
          </a:p>
        </p:txBody>
      </p:sp>
      <p:sp>
        <p:nvSpPr>
          <p:cNvPr id="5" name="Text 2"/>
          <p:cNvSpPr/>
          <p:nvPr/>
        </p:nvSpPr>
        <p:spPr>
          <a:xfrm>
            <a:off x="457200" y="3383280"/>
            <a:ext cx="8229600" cy="640080"/>
          </a:xfrm>
          <a:prstGeom prst="rect">
            <a:avLst/>
          </a:prstGeom>
          <a:noFill/>
          <a:ln/>
        </p:spPr>
        <p:txBody>
          <a:bodyPr wrap="square" rtlCol="0" anchor="ctr"/>
          <a:lstStyle/>
          <a:p>
            <a:pPr algn="ctr" indent="0" marL="0">
              <a:buNone/>
            </a:pPr>
            <a:r>
              <a:rPr lang="en-US" sz="1300" dirty="0">
                <a:solidFill>
                  <a:srgbClr val="F4EFE6"/>
                </a:solidFill>
                <a:latin typeface="Calibri" pitchFamily="34" charset="0"/>
                <a:ea typeface="Calibri" pitchFamily="34" charset="-122"/>
                <a:cs typeface="Calibri" pitchFamily="34" charset="-120"/>
              </a:rPr>
              <a:t>suherman.net  ·  github.com/iman-suherman/sdd-analytics-copilot</a:t>
            </a:r>
            <a:endParaRPr lang="en-US" sz="1300" dirty="0"/>
          </a:p>
          <a:p>
            <a:pPr algn="ctr" indent="0" marL="0">
              <a:buNone/>
            </a:pPr>
            <a:r>
              <a:rPr lang="en-US" sz="1300" dirty="0">
                <a:solidFill>
                  <a:srgbClr val="F4EFE6"/>
                </a:solidFill>
                <a:latin typeface="Calibri" pitchFamily="34" charset="0"/>
                <a:ea typeface="Calibri" pitchFamily="34" charset="-122"/>
                <a:cs typeface="Calibri" pitchFamily="34" charset="-120"/>
              </a:rPr>
              <a:t>Meet: meet.google.com/mcc-iopz-cnm</a:t>
            </a:r>
            <a:endParaRPr lang="en-US" sz="1300" dirty="0"/>
          </a:p>
        </p:txBody>
      </p:sp>
      <p:sp>
        <p:nvSpPr>
          <p:cNvPr id="6" name="Text 3"/>
          <p:cNvSpPr/>
          <p:nvPr/>
        </p:nvSpPr>
        <p:spPr>
          <a:xfrm>
            <a:off x="457200" y="4297680"/>
            <a:ext cx="8229600" cy="274320"/>
          </a:xfrm>
          <a:prstGeom prst="rect">
            <a:avLst/>
          </a:prstGeom>
          <a:noFill/>
          <a:ln/>
        </p:spPr>
        <p:txBody>
          <a:bodyPr wrap="square" rtlCol="0" anchor="ctr"/>
          <a:lstStyle/>
          <a:p>
            <a:pPr algn="ctr" indent="0" marL="0">
              <a:buNone/>
            </a:pPr>
            <a:r>
              <a:rPr lang="en-US" sz="1100" dirty="0">
                <a:solidFill>
                  <a:srgbClr val="7A93B0"/>
                </a:solidFill>
                <a:latin typeface="Calibri" pitchFamily="34" charset="0"/>
                <a:ea typeface="Calibri" pitchFamily="34" charset="-122"/>
                <a:cs typeface="Calibri" pitchFamily="34" charset="-120"/>
              </a:rPr>
              <a:t>Iman Suherman — Building solutions. Delivering impact.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SDD Analitik Kopilot — Demo Spec-Driven Development</dc:title>
  <dc:subject>Sharing session suherman.net — Bahasa Indonesia</dc:subject>
  <dc:creator>Iman Suherman</dc:creator>
  <cp:lastModifiedBy>Iman Suherman</cp:lastModifiedBy>
  <cp:revision>1</cp:revision>
  <dcterms:created xsi:type="dcterms:W3CDTF">2026-09-04T21:49:26Z</dcterms:created>
  <dcterms:modified xsi:type="dcterms:W3CDTF">2026-09-04T21:49:26Z</dcterms:modified>
</cp:coreProperties>
</file>